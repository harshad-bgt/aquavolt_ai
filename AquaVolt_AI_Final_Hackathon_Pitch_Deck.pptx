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640080"/>
            <a:ext cx="3291840" cy="292608"/>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00" b="1">
                <a:solidFill>
                  <a:srgbClr val="059669"/>
                </a:solidFill>
                <a:latin typeface="Arial"/>
              </a:defRPr>
            </a:pPr>
            <a:r>
              <a:t>🌱 AGRITECH &amp; AI INNOVATION TRACK</a:t>
            </a:r>
          </a:p>
        </p:txBody>
      </p:sp>
      <p:sp>
        <p:nvSpPr>
          <p:cNvPr id="5" name="TextBox 4"/>
          <p:cNvSpPr txBox="1"/>
          <p:nvPr/>
        </p:nvSpPr>
        <p:spPr>
          <a:xfrm>
            <a:off x="731520" y="1051560"/>
            <a:ext cx="5486400" cy="2011680"/>
          </a:xfrm>
          <a:prstGeom prst="rect">
            <a:avLst/>
          </a:prstGeom>
          <a:noFill/>
        </p:spPr>
        <p:txBody>
          <a:bodyPr wrap="square" lIns="0" rIns="0" tIns="0" bIns="0">
            <a:spAutoFit/>
          </a:bodyPr>
          <a:lstStyle/>
          <a:p>
            <a:pPr>
              <a:defRPr sz="4000" b="1">
                <a:solidFill>
                  <a:srgbClr val="26332A"/>
                </a:solidFill>
                <a:latin typeface="Helvetica"/>
              </a:defRPr>
            </a:pPr>
            <a:r>
              <a:t>AquaVolt AI</a:t>
            </a:r>
          </a:p>
          <a:p>
            <a:pPr>
              <a:spcBef>
                <a:spcPts val="400"/>
              </a:spcBef>
              <a:defRPr sz="1650" b="1">
                <a:solidFill>
                  <a:srgbClr val="176B87"/>
                </a:solidFill>
                <a:latin typeface="Helvetica"/>
              </a:defRPr>
            </a:pPr>
            <a:r>
              <a:t>Explainable Water &amp; Energy Decision Support for Sustainable Agriculture</a:t>
            </a:r>
          </a:p>
          <a:p>
            <a:pPr>
              <a:spcBef>
                <a:spcPts val="400"/>
              </a:spcBef>
              <a:defRPr sz="1300" i="1">
                <a:solidFill>
                  <a:srgbClr val="2F6B3B"/>
                </a:solidFill>
                <a:latin typeface="Arial"/>
              </a:defRPr>
            </a:pPr>
            <a:r>
              <a:t>Smart Water. Smart Energy. Sustainable Farming.</a:t>
            </a:r>
          </a:p>
        </p:txBody>
      </p:sp>
      <p:sp>
        <p:nvSpPr>
          <p:cNvPr id="6" name="Rounded Rectangle 5"/>
          <p:cNvSpPr/>
          <p:nvPr/>
        </p:nvSpPr>
        <p:spPr>
          <a:xfrm>
            <a:off x="731520" y="3154680"/>
            <a:ext cx="5303520" cy="137160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l">
              <a:defRPr sz="850" b="1">
                <a:latin typeface="Arial"/>
              </a:defRPr>
            </a:pPr>
            <a:r>
              <a:t>VALUE PROPOSITION</a:t>
            </a:r>
          </a:p>
          <a:p>
            <a:pPr algn="l">
              <a:spcBef>
                <a:spcPts val="400"/>
              </a:spcBef>
              <a:defRPr sz="1050">
                <a:solidFill>
                  <a:srgbClr val="26332A"/>
                </a:solidFill>
                <a:latin typeface="Arial"/>
              </a:defRPr>
            </a:pPr>
            <a:r>
              <a:t>An explainable decision-support system that helps farmers decide WHEN to irrigate by combining farm profile, soil condition, borewell state, weather likelihood, and solar availability into one practical recommendation.</a:t>
            </a:r>
          </a:p>
        </p:txBody>
      </p:sp>
      <p:sp>
        <p:nvSpPr>
          <p:cNvPr id="7" name="Rounded Rectangle 6"/>
          <p:cNvSpPr/>
          <p:nvPr/>
        </p:nvSpPr>
        <p:spPr>
          <a:xfrm>
            <a:off x="731520" y="4663440"/>
            <a:ext cx="1719072" cy="73152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l">
              <a:defRPr sz="950" b="1">
                <a:solidFill>
                  <a:srgbClr val="26332A"/>
                </a:solidFill>
                <a:latin typeface="Helvetica"/>
              </a:defRPr>
            </a:pPr>
            <a:r>
              <a:t>🕳️ Borewell Aware</a:t>
            </a:r>
          </a:p>
          <a:p>
            <a:pPr algn="l">
              <a:spcBef>
                <a:spcPts val="200"/>
              </a:spcBef>
              <a:defRPr sz="750">
                <a:solidFill>
                  <a:srgbClr val="66736A"/>
                </a:solidFill>
                <a:latin typeface="Arial"/>
              </a:defRPr>
            </a:pPr>
            <a:r>
              <a:t>Protects aquifers &amp; motor dry-runs</a:t>
            </a:r>
          </a:p>
        </p:txBody>
      </p:sp>
      <p:sp>
        <p:nvSpPr>
          <p:cNvPr id="8" name="Rounded Rectangle 7"/>
          <p:cNvSpPr/>
          <p:nvPr/>
        </p:nvSpPr>
        <p:spPr>
          <a:xfrm>
            <a:off x="2523744" y="4663440"/>
            <a:ext cx="1719072" cy="73152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l">
              <a:defRPr sz="950" b="1">
                <a:solidFill>
                  <a:srgbClr val="26332A"/>
                </a:solidFill>
                <a:latin typeface="Helvetica"/>
              </a:defRPr>
            </a:pPr>
            <a:r>
              <a:t>☀️ Solar Synchronized</a:t>
            </a:r>
          </a:p>
          <a:p>
            <a:pPr algn="l">
              <a:spcBef>
                <a:spcPts val="200"/>
              </a:spcBef>
              <a:defRPr sz="750">
                <a:solidFill>
                  <a:srgbClr val="66736A"/>
                </a:solidFill>
                <a:latin typeface="Arial"/>
              </a:defRPr>
            </a:pPr>
            <a:r>
              <a:t>Irrigates during peak sunlight</a:t>
            </a:r>
          </a:p>
        </p:txBody>
      </p:sp>
      <p:sp>
        <p:nvSpPr>
          <p:cNvPr id="9" name="Rounded Rectangle 8"/>
          <p:cNvSpPr/>
          <p:nvPr/>
        </p:nvSpPr>
        <p:spPr>
          <a:xfrm>
            <a:off x="4315968" y="4663440"/>
            <a:ext cx="1719072" cy="73152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a:lstStyle/>
          <a:p>
            <a:pPr algn="l">
              <a:defRPr sz="950" b="1">
                <a:solidFill>
                  <a:srgbClr val="26332A"/>
                </a:solidFill>
                <a:latin typeface="Helvetica"/>
              </a:defRPr>
            </a:pPr>
            <a:r>
              <a:t>👨‍🌾 Farmer In Control</a:t>
            </a:r>
          </a:p>
          <a:p>
            <a:pPr algn="l">
              <a:spcBef>
                <a:spcPts val="200"/>
              </a:spcBef>
              <a:defRPr sz="750">
                <a:solidFill>
                  <a:srgbClr val="66736A"/>
                </a:solidFill>
                <a:latin typeface="Arial"/>
              </a:defRPr>
            </a:pPr>
            <a:r>
              <a:t>Explainable human-in-the-loop advice</a:t>
            </a:r>
          </a:p>
        </p:txBody>
      </p:sp>
      <p:sp>
        <p:nvSpPr>
          <p:cNvPr id="10" name="Rounded Rectangle 9"/>
          <p:cNvSpPr/>
          <p:nvPr/>
        </p:nvSpPr>
        <p:spPr>
          <a:xfrm>
            <a:off x="731520" y="5532120"/>
            <a:ext cx="5303520" cy="64008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l">
              <a:defRPr sz="800" b="1">
                <a:solidFill>
                  <a:srgbClr val="059669"/>
                </a:solidFill>
                <a:latin typeface="Arial"/>
              </a:defRPr>
            </a:pPr>
            <a:r>
              <a:t>🟢 IMPLEMENTED FULL-STACK MVP</a:t>
            </a:r>
          </a:p>
          <a:p>
            <a:pPr algn="l">
              <a:spcBef>
                <a:spcPts val="100"/>
              </a:spcBef>
              <a:defRPr sz="900">
                <a:solidFill>
                  <a:srgbClr val="26332A"/>
                </a:solidFill>
                <a:latin typeface="Arial"/>
              </a:defRPr>
            </a:pPr>
            <a:r>
              <a:t>React 18 • TypeScript • Vite • Tailwind CSS • FastAPI • SQLite • JWT • Recharts • Multilingual</a:t>
            </a:r>
          </a:p>
        </p:txBody>
      </p:sp>
      <p:sp>
        <p:nvSpPr>
          <p:cNvPr id="11" name="Rounded Rectangle 10"/>
          <p:cNvSpPr/>
          <p:nvPr/>
        </p:nvSpPr>
        <p:spPr>
          <a:xfrm>
            <a:off x="6217920" y="640080"/>
            <a:ext cx="5212080" cy="553212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lide_1_img_10.jpg"/>
          <p:cNvPicPr>
            <a:picLocks noChangeAspect="1"/>
          </p:cNvPicPr>
          <p:nvPr/>
        </p:nvPicPr>
        <p:blipFill>
          <a:blip r:embed="rId2"/>
          <a:stretch>
            <a:fillRect/>
          </a:stretch>
        </p:blipFill>
        <p:spPr>
          <a:xfrm>
            <a:off x="6309360" y="731520"/>
            <a:ext cx="5029200" cy="4297680"/>
          </a:xfrm>
          <a:prstGeom prst="rect">
            <a:avLst/>
          </a:prstGeom>
        </p:spPr>
      </p:pic>
      <p:sp>
        <p:nvSpPr>
          <p:cNvPr id="13" name="Rounded Rectangle 12"/>
          <p:cNvSpPr/>
          <p:nvPr/>
        </p:nvSpPr>
        <p:spPr>
          <a:xfrm>
            <a:off x="6309360" y="5120640"/>
            <a:ext cx="5029200" cy="960120"/>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l">
              <a:defRPr sz="900" b="1">
                <a:solidFill>
                  <a:srgbClr val="176B87"/>
                </a:solidFill>
                <a:latin typeface="Arial"/>
              </a:defRPr>
            </a:pPr>
            <a:r>
              <a:t>SOLAR-POWERED BOREWELL INTEGRATION</a:t>
            </a:r>
          </a:p>
          <a:p>
            <a:pPr algn="l">
              <a:spcBef>
                <a:spcPts val="200"/>
              </a:spcBef>
              <a:defRPr sz="900">
                <a:solidFill>
                  <a:srgbClr val="26332A"/>
                </a:solidFill>
                <a:latin typeface="Arial"/>
              </a:defRPr>
            </a:pPr>
            <a:r>
              <a:t>Harmonizing crop water needs, subterranean borewell recharge limits, and daylight solar generation into a unified, practical decision layer.</a:t>
            </a:r>
          </a:p>
        </p:txBody>
      </p:sp>
      <p:sp>
        <p:nvSpPr>
          <p:cNvPr id="14" name="TextBox 13"/>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THE CORE PROBLEM</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02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Farmers Don't Have One Problem. They Have Many Variables.</a:t>
            </a:r>
          </a:p>
          <a:p>
            <a:pPr>
              <a:spcBef>
                <a:spcPts val="200"/>
              </a:spcBef>
              <a:defRPr sz="950">
                <a:solidFill>
                  <a:srgbClr val="66736A"/>
                </a:solidFill>
                <a:latin typeface="Arial"/>
              </a:defRPr>
            </a:pPr>
            <a:r>
              <a:t>Irrigation today relies on crude rules ('run pump 2–3 hours') or pure guesswork because variables are disconnected.</a:t>
            </a:r>
          </a:p>
        </p:txBody>
      </p:sp>
      <p:sp>
        <p:nvSpPr>
          <p:cNvPr id="7" name="Rounded Rectangle 6"/>
          <p:cNvSpPr/>
          <p:nvPr/>
        </p:nvSpPr>
        <p:spPr>
          <a:xfrm>
            <a:off x="548640" y="1389888"/>
            <a:ext cx="3063240" cy="98755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l">
              <a:defRPr sz="1000" b="1">
                <a:solidFill>
                  <a:srgbClr val="26332A"/>
                </a:solidFill>
                <a:latin typeface="Helvetica"/>
              </a:defRPr>
            </a:pPr>
            <a:r>
              <a:t>🌱 Crop Requirement</a:t>
            </a:r>
          </a:p>
          <a:p>
            <a:pPr algn="l">
              <a:spcBef>
                <a:spcPts val="300"/>
              </a:spcBef>
              <a:defRPr sz="850">
                <a:solidFill>
                  <a:srgbClr val="66736A"/>
                </a:solidFill>
                <a:latin typeface="Arial"/>
              </a:defRPr>
            </a:pPr>
            <a:r>
              <a:t>Growth stage, transpiration rate, dynamic water demand</a:t>
            </a:r>
          </a:p>
        </p:txBody>
      </p:sp>
      <p:sp>
        <p:nvSpPr>
          <p:cNvPr id="8" name="Rounded Rectangle 7"/>
          <p:cNvSpPr/>
          <p:nvPr/>
        </p:nvSpPr>
        <p:spPr>
          <a:xfrm>
            <a:off x="3730752" y="1389888"/>
            <a:ext cx="3063240" cy="98755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l">
              <a:defRPr sz="1000" b="1">
                <a:solidFill>
                  <a:srgbClr val="26332A"/>
                </a:solidFill>
                <a:latin typeface="Helvetica"/>
              </a:defRPr>
            </a:pPr>
            <a:r>
              <a:t>🪴 Soil Condition</a:t>
            </a:r>
          </a:p>
          <a:p>
            <a:pPr algn="l">
              <a:spcBef>
                <a:spcPts val="300"/>
              </a:spcBef>
              <a:defRPr sz="850">
                <a:solidFill>
                  <a:srgbClr val="66736A"/>
                </a:solidFill>
                <a:latin typeface="Arial"/>
              </a:defRPr>
            </a:pPr>
            <a:r>
              <a:t>Moisture saturation %, absorption rate, root zone status</a:t>
            </a:r>
          </a:p>
        </p:txBody>
      </p:sp>
      <p:sp>
        <p:nvSpPr>
          <p:cNvPr id="9" name="Rounded Rectangle 8"/>
          <p:cNvSpPr/>
          <p:nvPr/>
        </p:nvSpPr>
        <p:spPr>
          <a:xfrm>
            <a:off x="548640" y="2468880"/>
            <a:ext cx="3063240" cy="98755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l">
              <a:defRPr sz="1000" b="1">
                <a:solidFill>
                  <a:srgbClr val="26332A"/>
                </a:solidFill>
                <a:latin typeface="Helvetica"/>
              </a:defRPr>
            </a:pPr>
            <a:r>
              <a:t>☁️ Weather &amp; Rain</a:t>
            </a:r>
          </a:p>
          <a:p>
            <a:pPr algn="l">
              <a:spcBef>
                <a:spcPts val="300"/>
              </a:spcBef>
              <a:defRPr sz="850">
                <a:solidFill>
                  <a:srgbClr val="66736A"/>
                </a:solidFill>
                <a:latin typeface="Arial"/>
              </a:defRPr>
            </a:pPr>
            <a:r>
              <a:t>Ambient temperature, humidity, precipitation probability</a:t>
            </a:r>
          </a:p>
        </p:txBody>
      </p:sp>
      <p:sp>
        <p:nvSpPr>
          <p:cNvPr id="10" name="Rounded Rectangle 9"/>
          <p:cNvSpPr/>
          <p:nvPr/>
        </p:nvSpPr>
        <p:spPr>
          <a:xfrm>
            <a:off x="3730752" y="2468880"/>
            <a:ext cx="3063240" cy="98755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l">
              <a:defRPr sz="1000" b="1">
                <a:solidFill>
                  <a:srgbClr val="26332A"/>
                </a:solidFill>
                <a:latin typeface="Helvetica"/>
              </a:defRPr>
            </a:pPr>
            <a:r>
              <a:t>🕳️ Borewell State</a:t>
            </a:r>
          </a:p>
          <a:p>
            <a:pPr algn="l">
              <a:spcBef>
                <a:spcPts val="300"/>
              </a:spcBef>
              <a:defRPr sz="850">
                <a:solidFill>
                  <a:srgbClr val="66736A"/>
                </a:solidFill>
                <a:latin typeface="Arial"/>
              </a:defRPr>
            </a:pPr>
            <a:r>
              <a:t>Dynamic water column depth, recharge rate, depletion risk</a:t>
            </a:r>
          </a:p>
        </p:txBody>
      </p:sp>
      <p:sp>
        <p:nvSpPr>
          <p:cNvPr id="11" name="Rounded Rectangle 10"/>
          <p:cNvSpPr/>
          <p:nvPr/>
        </p:nvSpPr>
        <p:spPr>
          <a:xfrm>
            <a:off x="548640" y="3547872"/>
            <a:ext cx="3063240" cy="98755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l">
              <a:defRPr sz="1000" b="1">
                <a:solidFill>
                  <a:srgbClr val="26332A"/>
                </a:solidFill>
                <a:latin typeface="Helvetica"/>
              </a:defRPr>
            </a:pPr>
            <a:r>
              <a:t>🌊 Water Flow Rate</a:t>
            </a:r>
          </a:p>
          <a:p>
            <a:pPr algn="l">
              <a:spcBef>
                <a:spcPts val="300"/>
              </a:spcBef>
              <a:defRPr sz="850">
                <a:solidFill>
                  <a:srgbClr val="66736A"/>
                </a:solidFill>
                <a:latin typeface="Arial"/>
              </a:defRPr>
            </a:pPr>
            <a:r>
              <a:t>Discharge LPM, drawdown speed, yield degradation</a:t>
            </a:r>
          </a:p>
        </p:txBody>
      </p:sp>
      <p:sp>
        <p:nvSpPr>
          <p:cNvPr id="12" name="Rounded Rectangle 11"/>
          <p:cNvSpPr/>
          <p:nvPr/>
        </p:nvSpPr>
        <p:spPr>
          <a:xfrm>
            <a:off x="3730752" y="3547872"/>
            <a:ext cx="3063240" cy="98755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l">
              <a:defRPr sz="1000" b="1">
                <a:solidFill>
                  <a:srgbClr val="26332A"/>
                </a:solidFill>
                <a:latin typeface="Helvetica"/>
              </a:defRPr>
            </a:pPr>
            <a:r>
              <a:t>⚙️ Pump Operation</a:t>
            </a:r>
          </a:p>
          <a:p>
            <a:pPr algn="l">
              <a:spcBef>
                <a:spcPts val="300"/>
              </a:spcBef>
              <a:defRPr sz="850">
                <a:solidFill>
                  <a:srgbClr val="66736A"/>
                </a:solidFill>
                <a:latin typeface="Arial"/>
              </a:defRPr>
            </a:pPr>
            <a:r>
              <a:t>Motor horsepower, load rating, dry-run vulnerability</a:t>
            </a:r>
          </a:p>
        </p:txBody>
      </p:sp>
      <p:sp>
        <p:nvSpPr>
          <p:cNvPr id="13" name="Rounded Rectangle 12"/>
          <p:cNvSpPr/>
          <p:nvPr/>
        </p:nvSpPr>
        <p:spPr>
          <a:xfrm>
            <a:off x="548640" y="4626864"/>
            <a:ext cx="3063240" cy="98755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l">
              <a:defRPr sz="1000" b="1">
                <a:solidFill>
                  <a:srgbClr val="26332A"/>
                </a:solidFill>
                <a:latin typeface="Helvetica"/>
              </a:defRPr>
            </a:pPr>
            <a:r>
              <a:t>☀️ Solar Generation</a:t>
            </a:r>
          </a:p>
          <a:p>
            <a:pPr algn="l">
              <a:spcBef>
                <a:spcPts val="300"/>
              </a:spcBef>
              <a:defRPr sz="850">
                <a:solidFill>
                  <a:srgbClr val="66736A"/>
                </a:solidFill>
                <a:latin typeface="Arial"/>
              </a:defRPr>
            </a:pPr>
            <a:r>
              <a:t>Daylight solar irradiance, kW capacity, cloud cover</a:t>
            </a:r>
          </a:p>
        </p:txBody>
      </p:sp>
      <p:sp>
        <p:nvSpPr>
          <p:cNvPr id="14" name="Rounded Rectangle 13"/>
          <p:cNvSpPr/>
          <p:nvPr/>
        </p:nvSpPr>
        <p:spPr>
          <a:xfrm>
            <a:off x="3730752" y="4626864"/>
            <a:ext cx="3063240" cy="987552"/>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l">
              <a:defRPr sz="950" b="1">
                <a:solidFill>
                  <a:srgbClr val="DC2626"/>
                </a:solidFill>
                <a:latin typeface="Helvetica"/>
              </a:defRPr>
            </a:pPr>
            <a:r>
              <a:t>⚡ THE FRAGMENTED REALITY</a:t>
            </a:r>
          </a:p>
          <a:p>
            <a:pPr algn="l">
              <a:spcBef>
                <a:spcPts val="200"/>
              </a:spcBef>
              <a:defRPr sz="800">
                <a:solidFill>
                  <a:srgbClr val="26332A"/>
                </a:solidFill>
                <a:latin typeface="Arial"/>
              </a:defRPr>
            </a:pPr>
            <a:r>
              <a:t>No single factor tells the whole story. Disconnected data forces farmers into risky guesswork.</a:t>
            </a:r>
          </a:p>
        </p:txBody>
      </p:sp>
      <p:sp>
        <p:nvSpPr>
          <p:cNvPr id="15" name="Rounded Rectangle 14"/>
          <p:cNvSpPr/>
          <p:nvPr/>
        </p:nvSpPr>
        <p:spPr>
          <a:xfrm>
            <a:off x="7086600" y="1389888"/>
            <a:ext cx="4553712" cy="347472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l">
              <a:defRPr sz="1100" b="1">
                <a:solidFill>
                  <a:srgbClr val="2F6B3B"/>
                </a:solidFill>
                <a:latin typeface="Helvetica"/>
              </a:defRPr>
            </a:pPr>
            <a:r>
              <a:t>4 CRITICAL UNANSWERED QUESTIONS</a:t>
            </a:r>
          </a:p>
          <a:p>
            <a:pPr algn="l">
              <a:spcBef>
                <a:spcPts val="800"/>
              </a:spcBef>
              <a:defRPr sz="1000" b="1">
                <a:solidFill>
                  <a:srgbClr val="26332A"/>
                </a:solidFill>
                <a:latin typeface="Helvetica"/>
              </a:defRPr>
            </a:pPr>
            <a:r>
              <a:t>❓  When should I irrigate?</a:t>
            </a:r>
          </a:p>
          <a:p>
            <a:pPr algn="l">
              <a:spcBef>
                <a:spcPts val="100"/>
              </a:spcBef>
              <a:defRPr sz="850">
                <a:solidFill>
                  <a:srgbClr val="66736A"/>
                </a:solidFill>
                <a:latin typeface="Arial"/>
              </a:defRPr>
            </a:pPr>
            <a:r>
              <a:t>     Is today optimal, or is rain expected in 3 hours?</a:t>
            </a:r>
          </a:p>
          <a:p>
            <a:pPr algn="l">
              <a:spcBef>
                <a:spcPts val="800"/>
              </a:spcBef>
              <a:defRPr sz="1000" b="1">
                <a:solidFill>
                  <a:srgbClr val="26332A"/>
                </a:solidFill>
                <a:latin typeface="Helvetica"/>
              </a:defRPr>
            </a:pPr>
            <a:r>
              <a:t>❓  How long should I pump?</a:t>
            </a:r>
          </a:p>
          <a:p>
            <a:pPr algn="l">
              <a:spcBef>
                <a:spcPts val="100"/>
              </a:spcBef>
              <a:defRPr sz="850">
                <a:solidFill>
                  <a:srgbClr val="66736A"/>
                </a:solidFill>
                <a:latin typeface="Arial"/>
              </a:defRPr>
            </a:pPr>
            <a:r>
              <a:t>     Will running 2 hours dry out the aquifer and burn the motor?</a:t>
            </a:r>
          </a:p>
          <a:p>
            <a:pPr algn="l">
              <a:spcBef>
                <a:spcPts val="800"/>
              </a:spcBef>
              <a:defRPr sz="1000" b="1">
                <a:solidFill>
                  <a:srgbClr val="26332A"/>
                </a:solidFill>
                <a:latin typeface="Helvetica"/>
              </a:defRPr>
            </a:pPr>
            <a:r>
              <a:t>❓  When should the borewell recover?</a:t>
            </a:r>
          </a:p>
          <a:p>
            <a:pPr algn="l">
              <a:spcBef>
                <a:spcPts val="100"/>
              </a:spcBef>
              <a:defRPr sz="850">
                <a:solidFill>
                  <a:srgbClr val="66736A"/>
                </a:solidFill>
                <a:latin typeface="Arial"/>
              </a:defRPr>
            </a:pPr>
            <a:r>
              <a:t>     How many minutes does this specific aquifer need to recharge?</a:t>
            </a:r>
          </a:p>
          <a:p>
            <a:pPr algn="l">
              <a:spcBef>
                <a:spcPts val="800"/>
              </a:spcBef>
              <a:defRPr sz="1000" b="1">
                <a:solidFill>
                  <a:srgbClr val="26332A"/>
                </a:solidFill>
                <a:latin typeface="Helvetica"/>
              </a:defRPr>
            </a:pPr>
            <a:r>
              <a:t>❓  When is solar energy most useful?</a:t>
            </a:r>
          </a:p>
          <a:p>
            <a:pPr algn="l">
              <a:spcBef>
                <a:spcPts val="100"/>
              </a:spcBef>
              <a:defRPr sz="850">
                <a:solidFill>
                  <a:srgbClr val="66736A"/>
                </a:solidFill>
                <a:latin typeface="Arial"/>
              </a:defRPr>
            </a:pPr>
            <a:r>
              <a:t>     Is free sunlight aligned with actual soil moisture deficits?</a:t>
            </a:r>
          </a:p>
        </p:txBody>
      </p:sp>
      <p:sp>
        <p:nvSpPr>
          <p:cNvPr id="16" name="Rounded Rectangle 15"/>
          <p:cNvSpPr/>
          <p:nvPr/>
        </p:nvSpPr>
        <p:spPr>
          <a:xfrm>
            <a:off x="7086600" y="4983480"/>
            <a:ext cx="4553712" cy="128016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defRPr sz="850" b="1">
                <a:solidFill>
                  <a:srgbClr val="059669"/>
                </a:solidFill>
                <a:latin typeface="Arial"/>
              </a:defRPr>
            </a:pPr>
            <a:r>
              <a:t>CORE PROBLEM STATEMENT</a:t>
            </a:r>
          </a:p>
          <a:p>
            <a:pPr algn="l">
              <a:spcBef>
                <a:spcPts val="300"/>
              </a:spcBef>
              <a:defRPr sz="1100" b="1">
                <a:solidFill>
                  <a:srgbClr val="26332A"/>
                </a:solidFill>
                <a:latin typeface="Helvetica"/>
              </a:defRPr>
            </a:pPr>
            <a:r>
              <a:t>How can we combine all these disconnected factors and provide the farmer with ONE simple, practical irrigation decision?</a:t>
            </a:r>
          </a:p>
        </p:txBody>
      </p:sp>
      <p:sp>
        <p:nvSpPr>
          <p:cNvPr id="17" name="Rounded Rectangle 16"/>
          <p:cNvSpPr/>
          <p:nvPr/>
        </p:nvSpPr>
        <p:spPr>
          <a:xfrm>
            <a:off x="548640" y="5779008"/>
            <a:ext cx="6245352" cy="48463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900" b="1">
                <a:solidFill>
                  <a:srgbClr val="176B87"/>
                </a:solidFill>
                <a:latin typeface="Arial"/>
              </a:defRPr>
            </a:pPr>
            <a:r>
              <a:t>MULTIPLE DISCONNECTED FACTORS  ➔  ONE DIFFICULT IRRIGATION DECISION</a:t>
            </a:r>
          </a:p>
        </p:txBody>
      </p:sp>
      <p:sp>
        <p:nvSpPr>
          <p:cNvPr id="18" name="TextBox 17"/>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GAP ANALYSIS</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03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Why Traditional Irrigation Logic Falls Short</a:t>
            </a:r>
          </a:p>
          <a:p>
            <a:pPr>
              <a:spcBef>
                <a:spcPts val="200"/>
              </a:spcBef>
              <a:defRPr sz="950">
                <a:solidFill>
                  <a:srgbClr val="66736A"/>
                </a:solidFill>
                <a:latin typeface="Arial"/>
              </a:defRPr>
            </a:pPr>
            <a:r>
              <a:t>Single-variable systems and rigid assumptions fail to address the interconnected nature of water and solar energy.</a:t>
            </a:r>
          </a:p>
        </p:txBody>
      </p:sp>
      <p:sp>
        <p:nvSpPr>
          <p:cNvPr id="7" name="Rounded Rectangle 6"/>
          <p:cNvSpPr/>
          <p:nvPr/>
        </p:nvSpPr>
        <p:spPr>
          <a:xfrm>
            <a:off x="548640" y="1389888"/>
            <a:ext cx="5440680" cy="4297680"/>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94360"/>
          <a:lstStyle/>
          <a:p>
            <a:pPr algn="l">
              <a:defRPr sz="1000" b="1">
                <a:solidFill>
                  <a:srgbClr val="DC2626"/>
                </a:solidFill>
                <a:latin typeface="Helvetica"/>
              </a:defRPr>
            </a:pPr>
            <a:r>
              <a:t>❌  Fixed Pump Runtime</a:t>
            </a:r>
          </a:p>
          <a:p>
            <a:pPr algn="l">
              <a:spcBef>
                <a:spcPts val="100"/>
              </a:spcBef>
              <a:defRPr sz="850">
                <a:solidFill>
                  <a:srgbClr val="66736A"/>
                </a:solidFill>
                <a:latin typeface="Arial"/>
              </a:defRPr>
            </a:pPr>
            <a:r>
              <a:t>      Pumps operate on static 2-3 hour schedules regardless of seasonal soil moisture or weather.</a:t>
            </a:r>
          </a:p>
          <a:p>
            <a:pPr algn="l">
              <a:spcBef>
                <a:spcPts val="800"/>
              </a:spcBef>
              <a:defRPr sz="1000" b="1">
                <a:solidFill>
                  <a:srgbClr val="DC2626"/>
                </a:solidFill>
                <a:latin typeface="Helvetica"/>
              </a:defRPr>
            </a:pPr>
            <a:r>
              <a:t>❌  Soil Moisture Only</a:t>
            </a:r>
          </a:p>
          <a:p>
            <a:pPr algn="l">
              <a:spcBef>
                <a:spcPts val="100"/>
              </a:spcBef>
              <a:defRPr sz="850">
                <a:solidFill>
                  <a:srgbClr val="66736A"/>
                </a:solidFill>
                <a:latin typeface="Arial"/>
              </a:defRPr>
            </a:pPr>
            <a:r>
              <a:t>      Sensors detect dry soil but ignore whether the borewell has sufficient water column to pump.</a:t>
            </a:r>
          </a:p>
          <a:p>
            <a:pPr algn="l">
              <a:spcBef>
                <a:spcPts val="800"/>
              </a:spcBef>
              <a:defRPr sz="1000" b="1">
                <a:solidFill>
                  <a:srgbClr val="DC2626"/>
                </a:solidFill>
                <a:latin typeface="Helvetica"/>
              </a:defRPr>
            </a:pPr>
            <a:r>
              <a:t>❌  Solar-Only Decisions</a:t>
            </a:r>
          </a:p>
          <a:p>
            <a:pPr algn="l">
              <a:spcBef>
                <a:spcPts val="100"/>
              </a:spcBef>
              <a:defRPr sz="850">
                <a:solidFill>
                  <a:srgbClr val="66736A"/>
                </a:solidFill>
                <a:latin typeface="Arial"/>
              </a:defRPr>
            </a:pPr>
            <a:r>
              <a:t>      Solar pumps run whenever sunlight is available, even when soil is already saturated, wasting water.</a:t>
            </a:r>
          </a:p>
          <a:p>
            <a:pPr algn="l">
              <a:spcBef>
                <a:spcPts val="800"/>
              </a:spcBef>
              <a:defRPr sz="1000" b="1">
                <a:solidFill>
                  <a:srgbClr val="DC2626"/>
                </a:solidFill>
                <a:latin typeface="Helvetica"/>
              </a:defRPr>
            </a:pPr>
            <a:r>
              <a:t>❌  Manual Guesswork</a:t>
            </a:r>
          </a:p>
          <a:p>
            <a:pPr algn="l">
              <a:spcBef>
                <a:spcPts val="100"/>
              </a:spcBef>
              <a:defRPr sz="850">
                <a:solidFill>
                  <a:srgbClr val="66736A"/>
                </a:solidFill>
                <a:latin typeface="Arial"/>
              </a:defRPr>
            </a:pPr>
            <a:r>
              <a:t>      Farmers cannot safely gauge underground aquifer levels, risking motor burnouts and dry-runs.</a:t>
            </a:r>
          </a:p>
          <a:p>
            <a:pPr algn="l">
              <a:spcBef>
                <a:spcPts val="800"/>
              </a:spcBef>
              <a:defRPr sz="1000" b="1">
                <a:solidFill>
                  <a:srgbClr val="DC2626"/>
                </a:solidFill>
                <a:latin typeface="Helvetica"/>
              </a:defRPr>
            </a:pPr>
            <a:r>
              <a:t>❌  Blind Automation</a:t>
            </a:r>
          </a:p>
          <a:p>
            <a:pPr algn="l">
              <a:spcBef>
                <a:spcPts val="100"/>
              </a:spcBef>
              <a:defRPr sz="850">
                <a:solidFill>
                  <a:srgbClr val="66736A"/>
                </a:solidFill>
                <a:latin typeface="Arial"/>
              </a:defRPr>
            </a:pPr>
            <a:r>
              <a:t>      Traditional automated switches trigger without explaining WHY or checking upcoming rain forecasts.</a:t>
            </a:r>
          </a:p>
        </p:txBody>
      </p:sp>
      <p:sp>
        <p:nvSpPr>
          <p:cNvPr id="8" name="Rounded Rectangle 7"/>
          <p:cNvSpPr/>
          <p:nvPr/>
        </p:nvSpPr>
        <p:spPr>
          <a:xfrm>
            <a:off x="548640" y="1389888"/>
            <a:ext cx="5440680" cy="45720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C2626"/>
                </a:solidFill>
                <a:latin typeface="Helvetica"/>
              </a:defRPr>
            </a:pPr>
            <a:r>
              <a:t>⚠️  TRADITIONAL IRRIGATION LOGIC</a:t>
            </a:r>
          </a:p>
        </p:txBody>
      </p:sp>
      <p:sp>
        <p:nvSpPr>
          <p:cNvPr id="9" name="Rounded Rectangle 8"/>
          <p:cNvSpPr/>
          <p:nvPr/>
        </p:nvSpPr>
        <p:spPr>
          <a:xfrm>
            <a:off x="6199632" y="1389888"/>
            <a:ext cx="5440680" cy="4297680"/>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94360"/>
          <a:lstStyle/>
          <a:p>
            <a:pPr algn="l">
              <a:defRPr sz="1000" b="1">
                <a:solidFill>
                  <a:srgbClr val="059669"/>
                </a:solidFill>
                <a:latin typeface="Helvetica"/>
              </a:defRPr>
            </a:pPr>
            <a:r>
              <a:t>✓  Full-Spectrum Multi-Factor Synthesis</a:t>
            </a:r>
          </a:p>
          <a:p>
            <a:pPr algn="l">
              <a:spcBef>
                <a:spcPts val="100"/>
              </a:spcBef>
              <a:defRPr sz="850">
                <a:solidFill>
                  <a:srgbClr val="66736A"/>
                </a:solidFill>
                <a:latin typeface="Arial"/>
              </a:defRPr>
            </a:pPr>
            <a:r>
              <a:t>      Synthesizes Crop Stage + Soil Moisture + Borewell Level + Solar Output + Weather Forecast jointly.</a:t>
            </a:r>
          </a:p>
          <a:p>
            <a:pPr algn="l">
              <a:spcBef>
                <a:spcPts val="800"/>
              </a:spcBef>
              <a:defRPr sz="1000" b="1">
                <a:solidFill>
                  <a:srgbClr val="059669"/>
                </a:solidFill>
                <a:latin typeface="Helvetica"/>
              </a:defRPr>
            </a:pPr>
            <a:r>
              <a:t>✓  Recovery-Aware Timing</a:t>
            </a:r>
          </a:p>
          <a:p>
            <a:pPr algn="l">
              <a:spcBef>
                <a:spcPts val="100"/>
              </a:spcBef>
              <a:defRPr sz="850">
                <a:solidFill>
                  <a:srgbClr val="66736A"/>
                </a:solidFill>
                <a:latin typeface="Arial"/>
              </a:defRPr>
            </a:pPr>
            <a:r>
              <a:t>      Enforces borewell recharge intervals to prevent aquifer over-depletion and pump cavitation.</a:t>
            </a:r>
          </a:p>
          <a:p>
            <a:pPr algn="l">
              <a:spcBef>
                <a:spcPts val="800"/>
              </a:spcBef>
              <a:defRPr sz="1000" b="1">
                <a:solidFill>
                  <a:srgbClr val="059669"/>
                </a:solidFill>
                <a:latin typeface="Helvetica"/>
              </a:defRPr>
            </a:pPr>
            <a:r>
              <a:t>✓  Solar Window Alignment</a:t>
            </a:r>
          </a:p>
          <a:p>
            <a:pPr algn="l">
              <a:spcBef>
                <a:spcPts val="100"/>
              </a:spcBef>
              <a:defRPr sz="850">
                <a:solidFill>
                  <a:srgbClr val="66736A"/>
                </a:solidFill>
                <a:latin typeface="Arial"/>
              </a:defRPr>
            </a:pPr>
            <a:r>
              <a:t>      Identifies peak daytime sunlight windows to pump when solar electricity is 100% free.</a:t>
            </a:r>
          </a:p>
          <a:p>
            <a:pPr algn="l">
              <a:spcBef>
                <a:spcPts val="800"/>
              </a:spcBef>
              <a:defRPr sz="1000" b="1">
                <a:solidFill>
                  <a:srgbClr val="059669"/>
                </a:solidFill>
                <a:latin typeface="Helvetica"/>
              </a:defRPr>
            </a:pPr>
            <a:r>
              <a:t>✓  Weather-Aware Delays</a:t>
            </a:r>
          </a:p>
          <a:p>
            <a:pPr algn="l">
              <a:spcBef>
                <a:spcPts val="100"/>
              </a:spcBef>
              <a:defRPr sz="850">
                <a:solidFill>
                  <a:srgbClr val="66736A"/>
                </a:solidFill>
                <a:latin typeface="Arial"/>
              </a:defRPr>
            </a:pPr>
            <a:r>
              <a:t>      Automatically postpones irrigation when rain probability indicates natural precipitation is imminent.</a:t>
            </a:r>
          </a:p>
          <a:p>
            <a:pPr algn="l">
              <a:spcBef>
                <a:spcPts val="800"/>
              </a:spcBef>
              <a:defRPr sz="1000" b="1">
                <a:solidFill>
                  <a:srgbClr val="059669"/>
                </a:solidFill>
                <a:latin typeface="Helvetica"/>
              </a:defRPr>
            </a:pPr>
            <a:r>
              <a:t>✓  Explainable Directives</a:t>
            </a:r>
          </a:p>
          <a:p>
            <a:pPr algn="l">
              <a:spcBef>
                <a:spcPts val="100"/>
              </a:spcBef>
              <a:defRPr sz="850">
                <a:solidFill>
                  <a:srgbClr val="66736A"/>
                </a:solidFill>
                <a:latin typeface="Arial"/>
              </a:defRPr>
            </a:pPr>
            <a:r>
              <a:t>      Delivers transparent WHAT, WHY, and WHEN guidance keeping the farmer fully in control.</a:t>
            </a:r>
          </a:p>
        </p:txBody>
      </p:sp>
      <p:sp>
        <p:nvSpPr>
          <p:cNvPr id="10" name="Rounded Rectangle 9"/>
          <p:cNvSpPr/>
          <p:nvPr/>
        </p:nvSpPr>
        <p:spPr>
          <a:xfrm>
            <a:off x="6199632" y="1389888"/>
            <a:ext cx="5440680" cy="45720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9669"/>
                </a:solidFill>
                <a:latin typeface="Helvetica"/>
              </a:defRPr>
            </a:pPr>
            <a:r>
              <a:t>🌿  AQUAVOLT AI MULTI-CONDITION APPROACH</a:t>
            </a:r>
          </a:p>
        </p:txBody>
      </p:sp>
      <p:sp>
        <p:nvSpPr>
          <p:cNvPr id="11" name="Rounded Rectangle 10"/>
          <p:cNvSpPr/>
          <p:nvPr/>
        </p:nvSpPr>
        <p:spPr>
          <a:xfrm>
            <a:off x="548640" y="5779008"/>
            <a:ext cx="11094415" cy="484632"/>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defRPr sz="900" b="1">
                <a:solidFill>
                  <a:srgbClr val="176B87"/>
                </a:solidFill>
                <a:latin typeface="Arial"/>
              </a:defRPr>
            </a:pPr>
            <a:r>
              <a:t>CURRENT PROTOTYPE: Multi-condition deterministic decision support  •  ROADMAP: Farm-specific dynamic borewell modeling</a:t>
            </a:r>
          </a:p>
        </p:txBody>
      </p:sp>
      <p:sp>
        <p:nvSpPr>
          <p:cNvPr id="12" name="TextBox 11"/>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OUR SOLUTION</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04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From Farm Telemetry to One Explainable Decision</a:t>
            </a:r>
          </a:p>
          <a:p>
            <a:pPr>
              <a:spcBef>
                <a:spcPts val="200"/>
              </a:spcBef>
              <a:defRPr sz="950">
                <a:solidFill>
                  <a:srgbClr val="66736A"/>
                </a:solidFill>
                <a:latin typeface="Arial"/>
              </a:defRPr>
            </a:pPr>
            <a:r>
              <a:t>AquaVolt AI harmonizes multi-source agricultural inputs into clear, actionable, and explainable farmer guidance.</a:t>
            </a:r>
          </a:p>
        </p:txBody>
      </p:sp>
      <p:sp>
        <p:nvSpPr>
          <p:cNvPr id="7" name="Rounded Rectangle 6"/>
          <p:cNvSpPr/>
          <p:nvPr/>
        </p:nvSpPr>
        <p:spPr>
          <a:xfrm>
            <a:off x="548640" y="1389888"/>
            <a:ext cx="5303520" cy="1024128"/>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defRPr sz="950" b="1">
                <a:solidFill>
                  <a:srgbClr val="176B87"/>
                </a:solidFill>
                <a:latin typeface="Helvetica"/>
              </a:defRPr>
            </a:pPr>
            <a:r>
              <a:t>01 | FARM DATA INPUTS</a:t>
            </a:r>
          </a:p>
          <a:p>
            <a:pPr algn="l">
              <a:spcBef>
                <a:spcPts val="200"/>
              </a:spcBef>
              <a:defRPr sz="800">
                <a:solidFill>
                  <a:srgbClr val="26332A"/>
                </a:solidFill>
                <a:latin typeface="Arial"/>
              </a:defRPr>
            </a:pPr>
            <a:r>
              <a:t>   • 🌱 Farm Profile: Crop, Growth Stage, Acreage   • 🪴 Soil Moisture: Recorded / Seeded % Reading</a:t>
            </a:r>
          </a:p>
          <a:p>
            <a:pPr algn="l">
              <a:spcBef>
                <a:spcPts val="100"/>
              </a:spcBef>
              <a:defRPr sz="800">
                <a:solidFill>
                  <a:srgbClr val="26332A"/>
                </a:solidFill>
                <a:latin typeface="Arial"/>
              </a:defRPr>
            </a:pPr>
            <a:r>
              <a:t>   • 🕳️ Borewell State: Level Status &amp; Depth   • ☀️ Solar Output: Daylight Generation Status   • ☁️ Weather Context: Rain likelihood &amp; temp</a:t>
            </a:r>
          </a:p>
        </p:txBody>
      </p:sp>
      <p:sp>
        <p:nvSpPr>
          <p:cNvPr id="8" name="Rounded Rectangle 7"/>
          <p:cNvSpPr/>
          <p:nvPr/>
        </p:nvSpPr>
        <p:spPr>
          <a:xfrm>
            <a:off x="548640" y="2487168"/>
            <a:ext cx="5303520" cy="1024128"/>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defRPr sz="950" b="1">
                <a:solidFill>
                  <a:srgbClr val="059669"/>
                </a:solidFill>
                <a:latin typeface="Helvetica"/>
              </a:defRPr>
            </a:pPr>
            <a:r>
              <a:t>02 | AQUAVOLT DECISION ENGINE</a:t>
            </a:r>
          </a:p>
          <a:p>
            <a:pPr algn="l">
              <a:spcBef>
                <a:spcPts val="200"/>
              </a:spcBef>
              <a:defRPr sz="800">
                <a:solidFill>
                  <a:srgbClr val="26332A"/>
                </a:solidFill>
                <a:latin typeface="Arial"/>
              </a:defRPr>
            </a:pPr>
            <a:r>
              <a:t>   • ⚙️ Deterministic Multi-Condition Rules   • 🛡️ Priority Safety &amp; Incomplete Data Checks</a:t>
            </a:r>
          </a:p>
          <a:p>
            <a:pPr algn="l">
              <a:spcBef>
                <a:spcPts val="100"/>
              </a:spcBef>
              <a:defRPr sz="800">
                <a:solidFill>
                  <a:srgbClr val="26332A"/>
                </a:solidFill>
                <a:latin typeface="Arial"/>
              </a:defRPr>
            </a:pPr>
            <a:r>
              <a:t>   • ☀️ Solar-Water Synchronization Engine   • ⏱️ Optimal Irrigation Window Scheduling</a:t>
            </a:r>
          </a:p>
        </p:txBody>
      </p:sp>
      <p:sp>
        <p:nvSpPr>
          <p:cNvPr id="9" name="Rounded Rectangle 8"/>
          <p:cNvSpPr/>
          <p:nvPr/>
        </p:nvSpPr>
        <p:spPr>
          <a:xfrm>
            <a:off x="548640" y="3584448"/>
            <a:ext cx="5303520" cy="1024128"/>
          </a:xfrm>
          <a:prstGeom prst="roundRect">
            <a:avLst/>
          </a:prstGeom>
          <a:solidFill>
            <a:srgbClr val="FEF3C7"/>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defRPr sz="950" b="1">
                <a:solidFill>
                  <a:srgbClr val="D99A22"/>
                </a:solidFill>
                <a:latin typeface="Helvetica"/>
              </a:defRPr>
            </a:pPr>
            <a:r>
              <a:t>03 | EXPLAINABLE OUTPUT (WHAT + WHY + WHEN)</a:t>
            </a:r>
          </a:p>
          <a:p>
            <a:pPr algn="l">
              <a:spcBef>
                <a:spcPts val="200"/>
              </a:spcBef>
              <a:defRPr sz="800">
                <a:solidFill>
                  <a:srgbClr val="26332A"/>
                </a:solidFill>
                <a:latin typeface="Arial"/>
              </a:defRPr>
            </a:pPr>
            <a:r>
              <a:t>   • 🎯 WHAT: Concrete Action (e.g. SOLAR_WINDOW)   • 💡 WHY: Transparent contributing factors</a:t>
            </a:r>
          </a:p>
          <a:p>
            <a:pPr algn="l">
              <a:spcBef>
                <a:spcPts val="100"/>
              </a:spcBef>
              <a:defRPr sz="800">
                <a:solidFill>
                  <a:srgbClr val="26332A"/>
                </a:solidFill>
                <a:latin typeface="Arial"/>
              </a:defRPr>
            </a:pPr>
            <a:r>
              <a:t>   • ⏰ WHEN: Recommended timing / delay window</a:t>
            </a:r>
          </a:p>
        </p:txBody>
      </p:sp>
      <p:sp>
        <p:nvSpPr>
          <p:cNvPr id="10" name="Rounded Rectangle 9"/>
          <p:cNvSpPr/>
          <p:nvPr/>
        </p:nvSpPr>
        <p:spPr>
          <a:xfrm>
            <a:off x="548640" y="4681727"/>
            <a:ext cx="5303520" cy="1024128"/>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defRPr sz="950" b="1">
                <a:solidFill>
                  <a:srgbClr val="26332A"/>
                </a:solidFill>
                <a:latin typeface="Helvetica"/>
              </a:defRPr>
            </a:pPr>
            <a:r>
              <a:t>04 | FARMER IN CONTROL</a:t>
            </a:r>
          </a:p>
          <a:p>
            <a:pPr algn="l">
              <a:spcBef>
                <a:spcPts val="200"/>
              </a:spcBef>
              <a:defRPr sz="800">
                <a:solidFill>
                  <a:srgbClr val="26332A"/>
                </a:solidFill>
                <a:latin typeface="Arial"/>
              </a:defRPr>
            </a:pPr>
            <a:r>
              <a:t>   • 👨‍🌾 Human-in-the-loop: Farmer makes final decision   • 📱 Responsive web interface (Mobile &amp; Desktop)</a:t>
            </a:r>
          </a:p>
          <a:p>
            <a:pPr algn="l">
              <a:spcBef>
                <a:spcPts val="100"/>
              </a:spcBef>
              <a:defRPr sz="800">
                <a:solidFill>
                  <a:srgbClr val="26332A"/>
                </a:solidFill>
                <a:latin typeface="Arial"/>
              </a:defRPr>
            </a:pPr>
            <a:r>
              <a:t>   • 🌐 Localized in English, Marathi &amp; Hindi</a:t>
            </a:r>
          </a:p>
        </p:txBody>
      </p:sp>
      <p:sp>
        <p:nvSpPr>
          <p:cNvPr id="11" name="Rounded Rectangle 10"/>
          <p:cNvSpPr/>
          <p:nvPr/>
        </p:nvSpPr>
        <p:spPr>
          <a:xfrm>
            <a:off x="6080760" y="1389888"/>
            <a:ext cx="5559552" cy="429768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olution_concept.jpg"/>
          <p:cNvPicPr>
            <a:picLocks noChangeAspect="1"/>
          </p:cNvPicPr>
          <p:nvPr/>
        </p:nvPicPr>
        <p:blipFill>
          <a:blip r:embed="rId2"/>
          <a:stretch>
            <a:fillRect/>
          </a:stretch>
        </p:blipFill>
        <p:spPr>
          <a:xfrm>
            <a:off x="6172200" y="1481328"/>
            <a:ext cx="5376672" cy="3291840"/>
          </a:xfrm>
          <a:prstGeom prst="rect">
            <a:avLst/>
          </a:prstGeom>
        </p:spPr>
      </p:pic>
      <p:sp>
        <p:nvSpPr>
          <p:cNvPr id="13" name="Rounded Rectangle 12"/>
          <p:cNvSpPr/>
          <p:nvPr/>
        </p:nvSpPr>
        <p:spPr>
          <a:xfrm>
            <a:off x="6172200" y="4864608"/>
            <a:ext cx="5376672" cy="731520"/>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defRPr sz="850" b="1">
                <a:solidFill>
                  <a:srgbClr val="176B87"/>
                </a:solidFill>
                <a:latin typeface="Arial"/>
              </a:defRPr>
            </a:pPr>
            <a:r>
              <a:t>CONCEPTUAL PIPELINE: SOLAR ➔ PUMP ➔ WATER ➔ CROP</a:t>
            </a:r>
          </a:p>
          <a:p>
            <a:pPr algn="l">
              <a:spcBef>
                <a:spcPts val="200"/>
              </a:spcBef>
              <a:defRPr sz="800">
                <a:solidFill>
                  <a:srgbClr val="26332A"/>
                </a:solidFill>
                <a:latin typeface="Arial"/>
              </a:defRPr>
            </a:pPr>
            <a:r>
              <a:t>Harmonizing energy availability with crop water deficits through a digital decision layer, keeping the farmer informed and in command.</a:t>
            </a:r>
          </a:p>
        </p:txBody>
      </p:sp>
      <p:sp>
        <p:nvSpPr>
          <p:cNvPr id="14" name="Rounded Rectangle 13"/>
          <p:cNvSpPr/>
          <p:nvPr/>
        </p:nvSpPr>
        <p:spPr>
          <a:xfrm>
            <a:off x="548640" y="5779008"/>
            <a:ext cx="11094415" cy="48463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defRPr sz="900" b="1">
                <a:solidFill>
                  <a:srgbClr val="059669"/>
                </a:solidFill>
                <a:latin typeface="Arial"/>
              </a:defRPr>
            </a:pPr>
            <a:r>
              <a:t>NOT A BLACK-BOX PUMP SWITCH  •  EXPLAINABLE MULTI-FACTOR DECISION SUPPORT  •  FARMER IN CONTROL</a:t>
            </a:r>
          </a:p>
        </p:txBody>
      </p:sp>
      <p:sp>
        <p:nvSpPr>
          <p:cNvPr id="15" name="TextBox 14"/>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LIVE WORKING PRODUCT</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05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Real Product Dashboard: Live Operational Hub</a:t>
            </a:r>
          </a:p>
          <a:p>
            <a:pPr>
              <a:spcBef>
                <a:spcPts val="200"/>
              </a:spcBef>
              <a:defRPr sz="950">
                <a:solidFill>
                  <a:srgbClr val="66736A"/>
                </a:solidFill>
                <a:latin typeface="Arial"/>
              </a:defRPr>
            </a:pPr>
            <a:r>
              <a:t>Live farm telemetry, dynamic recommendation banner, and status monitors running on the actual React + FastAPI stack.</a:t>
            </a:r>
          </a:p>
        </p:txBody>
      </p:sp>
      <p:sp>
        <p:nvSpPr>
          <p:cNvPr id="7" name="Rectangle 6"/>
          <p:cNvSpPr/>
          <p:nvPr/>
        </p:nvSpPr>
        <p:spPr>
          <a:xfrm>
            <a:off x="548640" y="1389888"/>
            <a:ext cx="6766560" cy="4297680"/>
          </a:xfrm>
          <a:prstGeom prst="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5_dashboard_solar_window.png"/>
          <p:cNvPicPr>
            <a:picLocks noChangeAspect="1"/>
          </p:cNvPicPr>
          <p:nvPr/>
        </p:nvPicPr>
        <p:blipFill>
          <a:blip r:embed="rId2"/>
          <a:stretch>
            <a:fillRect/>
          </a:stretch>
        </p:blipFill>
        <p:spPr>
          <a:xfrm>
            <a:off x="658368" y="1490472"/>
            <a:ext cx="6547104" cy="4091939"/>
          </a:xfrm>
          <a:prstGeom prst="rect">
            <a:avLst/>
          </a:prstGeom>
        </p:spPr>
      </p:pic>
      <p:sp>
        <p:nvSpPr>
          <p:cNvPr id="9" name="Rounded Rectangle 8"/>
          <p:cNvSpPr/>
          <p:nvPr/>
        </p:nvSpPr>
        <p:spPr>
          <a:xfrm>
            <a:off x="7498079" y="1389888"/>
            <a:ext cx="4142232" cy="429768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l">
              <a:defRPr sz="1050" b="1">
                <a:solidFill>
                  <a:srgbClr val="2F6B3B"/>
                </a:solidFill>
                <a:latin typeface="Helvetica"/>
              </a:defRPr>
            </a:pPr>
            <a:r>
              <a:t>DASHBOARD ARCHITECTURE &amp; FEATURES</a:t>
            </a:r>
          </a:p>
          <a:p>
            <a:pPr algn="l">
              <a:spcBef>
                <a:spcPts val="600"/>
              </a:spcBef>
              <a:defRPr sz="950" b="1">
                <a:solidFill>
                  <a:srgbClr val="26332A"/>
                </a:solidFill>
                <a:latin typeface="Helvetica"/>
              </a:defRPr>
            </a:pPr>
            <a:r>
              <a:t>🌱 Farm Context &amp; Identity</a:t>
            </a:r>
          </a:p>
          <a:p>
            <a:pPr algn="l">
              <a:spcBef>
                <a:spcPts val="100"/>
              </a:spcBef>
              <a:defRPr sz="800">
                <a:solidFill>
                  <a:srgbClr val="66736A"/>
                </a:solidFill>
                <a:latin typeface="Arial"/>
              </a:defRPr>
            </a:pPr>
            <a:r>
              <a:t>  Displays active farm name, crop type (Cotton - Flowering), and acreage loaded directly from SQLite database.</a:t>
            </a:r>
          </a:p>
          <a:p>
            <a:pPr algn="l">
              <a:spcBef>
                <a:spcPts val="600"/>
              </a:spcBef>
              <a:defRPr sz="950" b="1">
                <a:solidFill>
                  <a:srgbClr val="26332A"/>
                </a:solidFill>
                <a:latin typeface="Helvetica"/>
              </a:defRPr>
            </a:pPr>
            <a:r>
              <a:t>⚡ Live Decision Banner</a:t>
            </a:r>
          </a:p>
          <a:p>
            <a:pPr algn="l">
              <a:spcBef>
                <a:spcPts val="100"/>
              </a:spcBef>
              <a:defRPr sz="800">
                <a:solidFill>
                  <a:srgbClr val="66736A"/>
                </a:solidFill>
                <a:latin typeface="Arial"/>
              </a:defRPr>
            </a:pPr>
            <a:r>
              <a:t>  Shows active SOLAR_WINDOW recommendation with 'High' confidence and key contributing factors.</a:t>
            </a:r>
          </a:p>
          <a:p>
            <a:pPr algn="l">
              <a:spcBef>
                <a:spcPts val="600"/>
              </a:spcBef>
              <a:defRPr sz="950" b="1">
                <a:solidFill>
                  <a:srgbClr val="26332A"/>
                </a:solidFill>
                <a:latin typeface="Helvetica"/>
              </a:defRPr>
            </a:pPr>
            <a:r>
              <a:t>📊 Multi-Factor Telemetry</a:t>
            </a:r>
          </a:p>
          <a:p>
            <a:pPr algn="l">
              <a:spcBef>
                <a:spcPts val="100"/>
              </a:spcBef>
              <a:defRPr sz="800">
                <a:solidFill>
                  <a:srgbClr val="66736A"/>
                </a:solidFill>
                <a:latin typeface="Arial"/>
              </a:defRPr>
            </a:pPr>
            <a:r>
              <a:t>  Real-time cards for Soil Moisture (28% - Low), Borewell Level (Adequate), Solar Output (High), and Weather (Clear).</a:t>
            </a:r>
          </a:p>
          <a:p>
            <a:pPr algn="l">
              <a:spcBef>
                <a:spcPts val="600"/>
              </a:spcBef>
              <a:defRPr sz="950" b="1">
                <a:solidFill>
                  <a:srgbClr val="26332A"/>
                </a:solidFill>
                <a:latin typeface="Helvetica"/>
              </a:defRPr>
            </a:pPr>
            <a:r>
              <a:t>🔔 Smart Alerts &amp; Activity Log</a:t>
            </a:r>
          </a:p>
          <a:p>
            <a:pPr algn="l">
              <a:spcBef>
                <a:spcPts val="100"/>
              </a:spcBef>
              <a:defRPr sz="800">
                <a:solidFill>
                  <a:srgbClr val="66736A"/>
                </a:solidFill>
                <a:latin typeface="Arial"/>
              </a:defRPr>
            </a:pPr>
            <a:r>
              <a:t>  Warns about critical soil moisture deficits and displays the timestamped history of observations.</a:t>
            </a:r>
          </a:p>
          <a:p>
            <a:pPr algn="l">
              <a:spcBef>
                <a:spcPts val="600"/>
              </a:spcBef>
              <a:defRPr sz="950" b="1">
                <a:solidFill>
                  <a:srgbClr val="26332A"/>
                </a:solidFill>
                <a:latin typeface="Helvetica"/>
              </a:defRPr>
            </a:pPr>
            <a:r>
              <a:t>🌐 Multilingual Switching</a:t>
            </a:r>
          </a:p>
          <a:p>
            <a:pPr algn="l">
              <a:spcBef>
                <a:spcPts val="100"/>
              </a:spcBef>
              <a:defRPr sz="800">
                <a:solidFill>
                  <a:srgbClr val="66736A"/>
                </a:solidFill>
                <a:latin typeface="Arial"/>
              </a:defRPr>
            </a:pPr>
            <a:r>
              <a:t>  Instant language switching between English, Marathi, and Hindi across all navigation and cards.</a:t>
            </a:r>
          </a:p>
        </p:txBody>
      </p:sp>
      <p:sp>
        <p:nvSpPr>
          <p:cNvPr id="10" name="Rounded Rectangle 9"/>
          <p:cNvSpPr/>
          <p:nvPr/>
        </p:nvSpPr>
        <p:spPr>
          <a:xfrm>
            <a:off x="548640" y="5779008"/>
            <a:ext cx="11094415" cy="484632"/>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defRPr sz="850" b="1">
                <a:solidFill>
                  <a:srgbClr val="176B87"/>
                </a:solidFill>
                <a:latin typeface="Arial"/>
              </a:defRPr>
            </a:pPr>
            <a:r>
              <a:t>PROTOTYPE DEMONSTRATION: Captured from running Chrome browser at localhost:5173 • Uses seeded telemetry to validate decision logic</a:t>
            </a:r>
          </a:p>
        </p:txBody>
      </p:sp>
      <p:sp>
        <p:nvSpPr>
          <p:cNvPr id="11" name="TextBox 10"/>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CORE DECISION ENGINE</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06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The Decision Engine: Real-Time Explainable Advice</a:t>
            </a:r>
          </a:p>
          <a:p>
            <a:pPr>
              <a:spcBef>
                <a:spcPts val="200"/>
              </a:spcBef>
              <a:defRPr sz="950">
                <a:solidFill>
                  <a:srgbClr val="66736A"/>
                </a:solidFill>
                <a:latin typeface="Arial"/>
              </a:defRPr>
            </a:pPr>
            <a:r>
              <a:t>Demonstrating the core regression-tested scenario: Low Soil Moisture + High Solar + Solar Pump → SOLAR_WINDOW.</a:t>
            </a:r>
          </a:p>
        </p:txBody>
      </p:sp>
      <p:sp>
        <p:nvSpPr>
          <p:cNvPr id="7" name="Rectangle 6"/>
          <p:cNvSpPr/>
          <p:nvPr/>
        </p:nvSpPr>
        <p:spPr>
          <a:xfrm>
            <a:off x="548640" y="1389888"/>
            <a:ext cx="6766560" cy="4297680"/>
          </a:xfrm>
          <a:prstGeom prst="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7_advice_solar_window.png"/>
          <p:cNvPicPr>
            <a:picLocks noChangeAspect="1"/>
          </p:cNvPicPr>
          <p:nvPr/>
        </p:nvPicPr>
        <p:blipFill>
          <a:blip r:embed="rId2"/>
          <a:stretch>
            <a:fillRect/>
          </a:stretch>
        </p:blipFill>
        <p:spPr>
          <a:xfrm>
            <a:off x="658368" y="1490472"/>
            <a:ext cx="6547104" cy="4091939"/>
          </a:xfrm>
          <a:prstGeom prst="rect">
            <a:avLst/>
          </a:prstGeom>
        </p:spPr>
      </p:pic>
      <p:sp>
        <p:nvSpPr>
          <p:cNvPr id="9" name="Rounded Rectangle 8"/>
          <p:cNvSpPr/>
          <p:nvPr/>
        </p:nvSpPr>
        <p:spPr>
          <a:xfrm>
            <a:off x="7498079" y="1389888"/>
            <a:ext cx="4142232" cy="429768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l">
              <a:defRPr sz="1050" b="1">
                <a:solidFill>
                  <a:srgbClr val="2F6B3B"/>
                </a:solidFill>
                <a:latin typeface="Helvetica"/>
              </a:defRPr>
            </a:pPr>
            <a:r>
              <a:t>REGRESSION-TESTED SCENARIO ANALYSIS</a:t>
            </a:r>
          </a:p>
          <a:p>
            <a:pPr algn="l">
              <a:spcBef>
                <a:spcPts val="400"/>
              </a:spcBef>
              <a:defRPr sz="950" b="1">
                <a:solidFill>
                  <a:srgbClr val="26332A"/>
                </a:solidFill>
                <a:latin typeface="Helvetica"/>
              </a:defRPr>
            </a:pPr>
            <a:r>
              <a:t>1. Farm Conditions Evaluated:</a:t>
            </a:r>
          </a:p>
          <a:p>
            <a:pPr algn="l">
              <a:spcBef>
                <a:spcPts val="100"/>
              </a:spcBef>
              <a:defRPr sz="800">
                <a:solidFill>
                  <a:srgbClr val="66736A"/>
                </a:solidFill>
                <a:latin typeface="Arial"/>
              </a:defRPr>
            </a:pPr>
            <a:r>
              <a:t>   • 🪴 Soil Moisture: LOW (28% — Below threshold)</a:t>
            </a:r>
          </a:p>
          <a:p>
            <a:pPr algn="l">
              <a:spcBef>
                <a:spcPts val="100"/>
              </a:spcBef>
              <a:defRPr sz="800">
                <a:solidFill>
                  <a:srgbClr val="66736A"/>
                </a:solidFill>
                <a:latin typeface="Arial"/>
              </a:defRPr>
            </a:pPr>
            <a:r>
              <a:t>   • ☀️ Solar Availability: HIGH (Peak midday sun)</a:t>
            </a:r>
          </a:p>
          <a:p>
            <a:pPr algn="l">
              <a:spcBef>
                <a:spcPts val="100"/>
              </a:spcBef>
              <a:defRPr sz="800">
                <a:solidFill>
                  <a:srgbClr val="66736A"/>
                </a:solidFill>
                <a:latin typeface="Arial"/>
              </a:defRPr>
            </a:pPr>
            <a:r>
              <a:t>   • ⚙️ Solar Pump: YES (Equipped with solar system)</a:t>
            </a:r>
          </a:p>
          <a:p>
            <a:pPr algn="l">
              <a:spcBef>
                <a:spcPts val="100"/>
              </a:spcBef>
              <a:defRPr sz="800">
                <a:solidFill>
                  <a:srgbClr val="66736A"/>
                </a:solidFill>
                <a:latin typeface="Arial"/>
              </a:defRPr>
            </a:pPr>
            <a:r>
              <a:t>   • 🕳️ Borewell Level: ADEQUATE (Safe water column)</a:t>
            </a:r>
          </a:p>
          <a:p>
            <a:pPr algn="l">
              <a:spcBef>
                <a:spcPts val="100"/>
              </a:spcBef>
              <a:defRPr sz="800">
                <a:solidFill>
                  <a:srgbClr val="66736A"/>
                </a:solidFill>
                <a:latin typeface="Arial"/>
              </a:defRPr>
            </a:pPr>
            <a:r>
              <a:t>   • ☁️ Weather: CLEAR (0% rain forecasted)</a:t>
            </a:r>
          </a:p>
          <a:p>
            <a:pPr algn="l">
              <a:spcBef>
                <a:spcPts val="600"/>
              </a:spcBef>
              <a:defRPr sz="950" b="1">
                <a:solidFill>
                  <a:srgbClr val="26332A"/>
                </a:solidFill>
                <a:latin typeface="Helvetica"/>
              </a:defRPr>
            </a:pPr>
            <a:r>
              <a:t>2. Deterministic Engine Output:</a:t>
            </a:r>
          </a:p>
          <a:p>
            <a:pPr algn="l">
              <a:spcBef>
                <a:spcPts val="100"/>
              </a:spcBef>
              <a:defRPr sz="800" b="1">
                <a:solidFill>
                  <a:srgbClr val="059669"/>
                </a:solidFill>
                <a:latin typeface="Arial"/>
              </a:defRPr>
            </a:pPr>
            <a:r>
              <a:t>   RECOMMENDATION: SOLAR_WINDOW (Confidence: High)</a:t>
            </a:r>
          </a:p>
          <a:p>
            <a:pPr algn="l">
              <a:spcBef>
                <a:spcPts val="100"/>
              </a:spcBef>
              <a:defRPr sz="800" b="0">
                <a:solidFill>
                  <a:srgbClr val="26332A"/>
                </a:solidFill>
                <a:latin typeface="Arial"/>
              </a:defRPr>
            </a:pPr>
            <a:r>
              <a:t>   WHAT (Directive): Optimal solar irrigation window identified.</a:t>
            </a:r>
          </a:p>
          <a:p>
            <a:pPr algn="l">
              <a:spcBef>
                <a:spcPts val="100"/>
              </a:spcBef>
              <a:defRPr sz="800" b="0">
                <a:solidFill>
                  <a:srgbClr val="26332A"/>
                </a:solidFill>
                <a:latin typeface="Arial"/>
              </a:defRPr>
            </a:pPr>
            <a:r>
              <a:t>   WHY (Rationale): Soil moisture is low and solar availability is high with active solar pump. Zero grid/battery strain.</a:t>
            </a:r>
          </a:p>
          <a:p>
            <a:pPr algn="l">
              <a:spcBef>
                <a:spcPts val="100"/>
              </a:spcBef>
              <a:defRPr sz="800" b="0">
                <a:solidFill>
                  <a:srgbClr val="26332A"/>
                </a:solidFill>
                <a:latin typeface="Arial"/>
              </a:defRPr>
            </a:pPr>
            <a:r>
              <a:t>   WHEN (Suggested): Irrigate now during daytime solar window.</a:t>
            </a:r>
          </a:p>
          <a:p>
            <a:pPr algn="l">
              <a:spcBef>
                <a:spcPts val="600"/>
              </a:spcBef>
              <a:defRPr sz="950" b="1">
                <a:solidFill>
                  <a:srgbClr val="26332A"/>
                </a:solidFill>
                <a:latin typeface="Helvetica"/>
              </a:defRPr>
            </a:pPr>
            <a:r>
              <a:t>3. Code Verification:</a:t>
            </a:r>
          </a:p>
          <a:p>
            <a:pPr algn="l">
              <a:spcBef>
                <a:spcPts val="100"/>
              </a:spcBef>
              <a:defRPr sz="800">
                <a:solidFill>
                  <a:srgbClr val="66736A"/>
                </a:solidFill>
                <a:latin typeface="Arial"/>
              </a:defRPr>
            </a:pPr>
            <a:r>
              <a:t>   Implemented in backend/services/advice_engine.py</a:t>
            </a:r>
            <a:br/>
            <a:r>
              <a:t>   Validated by test_advice_engine.py regression tests.</a:t>
            </a:r>
          </a:p>
        </p:txBody>
      </p:sp>
      <p:sp>
        <p:nvSpPr>
          <p:cNvPr id="10" name="Rounded Rectangle 9"/>
          <p:cNvSpPr/>
          <p:nvPr/>
        </p:nvSpPr>
        <p:spPr>
          <a:xfrm>
            <a:off x="548640" y="5779008"/>
            <a:ext cx="11094415" cy="4846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defRPr sz="850" b="1">
                <a:solidFill>
                  <a:srgbClr val="059669"/>
                </a:solidFill>
                <a:latin typeface="Arial"/>
              </a:defRPr>
            </a:pPr>
            <a:r>
              <a:t>DETERMINISTIC, EXPLAINABLE LOGIC  •  ZERO HALLUCINATION  •  FARMER REMAINS IN CONTROL</a:t>
            </a:r>
          </a:p>
        </p:txBody>
      </p:sp>
      <p:sp>
        <p:nvSpPr>
          <p:cNvPr id="11" name="TextBox 10"/>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INTELLIGENCE PIPELINE</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07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How the Decision is Made: Transparent 5-Stage Evaluation</a:t>
            </a:r>
          </a:p>
          <a:p>
            <a:pPr>
              <a:spcBef>
                <a:spcPts val="200"/>
              </a:spcBef>
              <a:defRPr sz="950">
                <a:solidFill>
                  <a:srgbClr val="66736A"/>
                </a:solidFill>
                <a:latin typeface="Arial"/>
              </a:defRPr>
            </a:pPr>
            <a:r>
              <a:t>Replacing opaque black-box algorithms with a deterministic, explainable, and multi-condition evaluation pipeline.</a:t>
            </a:r>
          </a:p>
        </p:txBody>
      </p:sp>
      <p:sp>
        <p:nvSpPr>
          <p:cNvPr id="7" name="Rounded Rectangle 6"/>
          <p:cNvSpPr/>
          <p:nvPr/>
        </p:nvSpPr>
        <p:spPr>
          <a:xfrm>
            <a:off x="548640" y="1389888"/>
            <a:ext cx="2084831" cy="2926080"/>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800" b="1">
                <a:solidFill>
                  <a:srgbClr val="176B87"/>
                </a:solidFill>
                <a:latin typeface="Arial"/>
              </a:defRPr>
            </a:pPr>
            <a:r>
              <a:t>STAGE 01</a:t>
            </a:r>
          </a:p>
          <a:p>
            <a:pPr algn="ctr">
              <a:spcBef>
                <a:spcPts val="200"/>
              </a:spcBef>
              <a:defRPr sz="1300" b="1">
                <a:solidFill>
                  <a:srgbClr val="26332A"/>
                </a:solidFill>
                <a:latin typeface="Helvetica"/>
              </a:defRPr>
            </a:pPr>
            <a:r>
              <a:t>COLLECT</a:t>
            </a:r>
          </a:p>
          <a:p>
            <a:pPr algn="l">
              <a:spcBef>
                <a:spcPts val="800"/>
              </a:spcBef>
              <a:defRPr sz="850">
                <a:solidFill>
                  <a:srgbClr val="66736A"/>
                </a:solidFill>
                <a:latin typeface="Arial"/>
              </a:defRPr>
            </a:pPr>
            <a:r>
              <a:t>Ingests farm profile (crop type, pump HP, solar pump flag) alongside latest field monitoring telemetry.</a:t>
            </a:r>
          </a:p>
        </p:txBody>
      </p:sp>
      <p:sp>
        <p:nvSpPr>
          <p:cNvPr id="8" name="Rounded Rectangle 7"/>
          <p:cNvSpPr/>
          <p:nvPr/>
        </p:nvSpPr>
        <p:spPr>
          <a:xfrm>
            <a:off x="2798064" y="1389888"/>
            <a:ext cx="2084831" cy="2926080"/>
          </a:xfrm>
          <a:prstGeom prst="roundRect">
            <a:avLst/>
          </a:prstGeom>
          <a:solidFill>
            <a:srgbClr val="FAEDE8"/>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800" b="1">
                <a:solidFill>
                  <a:srgbClr val="795548"/>
                </a:solidFill>
                <a:latin typeface="Arial"/>
              </a:defRPr>
            </a:pPr>
            <a:r>
              <a:t>STAGE 02</a:t>
            </a:r>
          </a:p>
          <a:p>
            <a:pPr algn="ctr">
              <a:spcBef>
                <a:spcPts val="200"/>
              </a:spcBef>
              <a:defRPr sz="1300" b="1">
                <a:solidFill>
                  <a:srgbClr val="26332A"/>
                </a:solidFill>
                <a:latin typeface="Helvetica"/>
              </a:defRPr>
            </a:pPr>
            <a:r>
              <a:t>VALIDATE</a:t>
            </a:r>
          </a:p>
          <a:p>
            <a:pPr algn="l">
              <a:spcBef>
                <a:spcPts val="800"/>
              </a:spcBef>
              <a:defRPr sz="850">
                <a:solidFill>
                  <a:srgbClr val="66736A"/>
                </a:solidFill>
                <a:latin typeface="Arial"/>
              </a:defRPr>
            </a:pPr>
            <a:r>
              <a:t>Validates input boundaries. Triggers INSUFFICIENT_DATA if core moisture or solar readings are missing.</a:t>
            </a:r>
          </a:p>
        </p:txBody>
      </p:sp>
      <p:sp>
        <p:nvSpPr>
          <p:cNvPr id="9" name="Rounded Rectangle 8"/>
          <p:cNvSpPr/>
          <p:nvPr/>
        </p:nvSpPr>
        <p:spPr>
          <a:xfrm>
            <a:off x="5047488" y="1389888"/>
            <a:ext cx="2084831" cy="292608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800" b="1">
                <a:solidFill>
                  <a:srgbClr val="DC2626"/>
                </a:solidFill>
                <a:latin typeface="Arial"/>
              </a:defRPr>
            </a:pPr>
            <a:r>
              <a:t>STAGE 03</a:t>
            </a:r>
          </a:p>
          <a:p>
            <a:pPr algn="ctr">
              <a:spcBef>
                <a:spcPts val="200"/>
              </a:spcBef>
              <a:defRPr sz="1300" b="1">
                <a:solidFill>
                  <a:srgbClr val="26332A"/>
                </a:solidFill>
                <a:latin typeface="Helvetica"/>
              </a:defRPr>
            </a:pPr>
            <a:r>
              <a:t>SAFETY CHECK</a:t>
            </a:r>
          </a:p>
          <a:p>
            <a:pPr algn="l">
              <a:spcBef>
                <a:spcPts val="800"/>
              </a:spcBef>
              <a:defRPr sz="850">
                <a:solidFill>
                  <a:srgbClr val="66736A"/>
                </a:solidFill>
                <a:latin typeface="Arial"/>
              </a:defRPr>
            </a:pPr>
            <a:r>
              <a:t>Checks priority overrides: Rain forecasted ➔ RAIN_DELAY. Soil saturated ➔ WAIT. Borewell critical ➔ RECOVERY.</a:t>
            </a:r>
          </a:p>
        </p:txBody>
      </p:sp>
      <p:sp>
        <p:nvSpPr>
          <p:cNvPr id="10" name="Rounded Rectangle 9"/>
          <p:cNvSpPr/>
          <p:nvPr/>
        </p:nvSpPr>
        <p:spPr>
          <a:xfrm>
            <a:off x="7296912" y="1389888"/>
            <a:ext cx="2084831" cy="2926080"/>
          </a:xfrm>
          <a:prstGeom prst="roundRect">
            <a:avLst/>
          </a:prstGeom>
          <a:solidFill>
            <a:srgbClr val="FEF3C7"/>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800" b="1">
                <a:solidFill>
                  <a:srgbClr val="D99A22"/>
                </a:solidFill>
                <a:latin typeface="Arial"/>
              </a:defRPr>
            </a:pPr>
            <a:r>
              <a:t>STAGE 04</a:t>
            </a:r>
          </a:p>
          <a:p>
            <a:pPr algn="ctr">
              <a:spcBef>
                <a:spcPts val="200"/>
              </a:spcBef>
              <a:defRPr sz="1300" b="1">
                <a:solidFill>
                  <a:srgbClr val="26332A"/>
                </a:solidFill>
                <a:latin typeface="Helvetica"/>
              </a:defRPr>
            </a:pPr>
            <a:r>
              <a:t>SYNCHRONIZE</a:t>
            </a:r>
          </a:p>
          <a:p>
            <a:pPr algn="l">
              <a:spcBef>
                <a:spcPts val="800"/>
              </a:spcBef>
              <a:defRPr sz="850">
                <a:solidFill>
                  <a:srgbClr val="66736A"/>
                </a:solidFill>
                <a:latin typeface="Arial"/>
              </a:defRPr>
            </a:pPr>
            <a:r>
              <a:t>If moisture low + solar pump + high solar ➔ SOLAR_WINDOW. If low solar ➔ WAIT. If grid pump ➔ IRRIGATION_NEEDED.</a:t>
            </a:r>
          </a:p>
        </p:txBody>
      </p:sp>
      <p:sp>
        <p:nvSpPr>
          <p:cNvPr id="11" name="Rounded Rectangle 10"/>
          <p:cNvSpPr/>
          <p:nvPr/>
        </p:nvSpPr>
        <p:spPr>
          <a:xfrm>
            <a:off x="9546336" y="1389888"/>
            <a:ext cx="2084831" cy="292608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800" b="1">
                <a:solidFill>
                  <a:srgbClr val="059669"/>
                </a:solidFill>
                <a:latin typeface="Arial"/>
              </a:defRPr>
            </a:pPr>
            <a:r>
              <a:t>STAGE 05</a:t>
            </a:r>
          </a:p>
          <a:p>
            <a:pPr algn="ctr">
              <a:spcBef>
                <a:spcPts val="200"/>
              </a:spcBef>
              <a:defRPr sz="1300" b="1">
                <a:solidFill>
                  <a:srgbClr val="26332A"/>
                </a:solidFill>
                <a:latin typeface="Helvetica"/>
              </a:defRPr>
            </a:pPr>
            <a:r>
              <a:t>EXPLAIN</a:t>
            </a:r>
          </a:p>
          <a:p>
            <a:pPr algn="l">
              <a:spcBef>
                <a:spcPts val="800"/>
              </a:spcBef>
              <a:defRPr sz="850">
                <a:solidFill>
                  <a:srgbClr val="66736A"/>
                </a:solidFill>
                <a:latin typeface="Arial"/>
              </a:defRPr>
            </a:pPr>
            <a:r>
              <a:t>Constructs farmer-facing WHAT, WHY, and WHEN directives with confidence scoring served via FastAPI REST API.</a:t>
            </a:r>
          </a:p>
        </p:txBody>
      </p:sp>
      <p:sp>
        <p:nvSpPr>
          <p:cNvPr id="12" name="Rounded Rectangle 11"/>
          <p:cNvSpPr/>
          <p:nvPr/>
        </p:nvSpPr>
        <p:spPr>
          <a:xfrm>
            <a:off x="548640" y="4462272"/>
            <a:ext cx="11094415" cy="123444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l">
              <a:defRPr sz="950" b="1">
                <a:solidFill>
                  <a:srgbClr val="176B87"/>
                </a:solidFill>
                <a:latin typeface="Helvetica"/>
              </a:defRPr>
            </a:pPr>
            <a:r>
              <a:t>🔵 FUTURE INTELLIGENCE LAYER (PLANNED RESEARCH ROADMAP)</a:t>
            </a:r>
          </a:p>
          <a:p>
            <a:pPr algn="l">
              <a:spcBef>
                <a:spcPts val="200"/>
              </a:spcBef>
              <a:defRPr sz="850">
                <a:solidFill>
                  <a:srgbClr val="26332A"/>
                </a:solidFill>
                <a:latin typeface="Arial"/>
              </a:defRPr>
            </a:pPr>
            <a:r>
              <a:t>• 📡 Live IoT Telemetry: Automated ingestion from LoRaWAN soil moisture probes, water-level sensors &amp; flow meters.</a:t>
            </a:r>
          </a:p>
          <a:p>
            <a:pPr algn="l">
              <a:spcBef>
                <a:spcPts val="200"/>
              </a:spcBef>
              <a:defRPr sz="850">
                <a:solidFill>
                  <a:srgbClr val="26332A"/>
                </a:solidFill>
                <a:latin typeface="Arial"/>
              </a:defRPr>
            </a:pPr>
            <a:r>
              <a:t>• ☁️ Live Weather API: Real-time Doppler radar &amp; hyper-local precipitation forecast synchronization.</a:t>
            </a:r>
          </a:p>
          <a:p>
            <a:pPr algn="l">
              <a:spcBef>
                <a:spcPts val="200"/>
              </a:spcBef>
              <a:defRPr sz="850">
                <a:solidFill>
                  <a:srgbClr val="26332A"/>
                </a:solidFill>
                <a:latin typeface="Arial"/>
              </a:defRPr>
            </a:pPr>
            <a:r>
              <a:t>• 🕳️ Borewell Modeling: Aquifer recharge velocity characterization modeled per individual farm borewell.</a:t>
            </a:r>
          </a:p>
          <a:p>
            <a:pPr algn="l">
              <a:spcBef>
                <a:spcPts val="200"/>
              </a:spcBef>
              <a:defRPr sz="850">
                <a:solidFill>
                  <a:srgbClr val="26332A"/>
                </a:solidFill>
                <a:latin typeface="Arial"/>
              </a:defRPr>
            </a:pPr>
            <a:r>
              <a:t>• ⚡ Mathematical Optimization: Continuous water-energy cost-benefit optimization balancing tariffs and yield.</a:t>
            </a:r>
          </a:p>
        </p:txBody>
      </p:sp>
      <p:sp>
        <p:nvSpPr>
          <p:cNvPr id="13" name="Rounded Rectangle 12"/>
          <p:cNvSpPr/>
          <p:nvPr/>
        </p:nvSpPr>
        <p:spPr>
          <a:xfrm>
            <a:off x="548640" y="5779008"/>
            <a:ext cx="11094415" cy="4846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defRPr sz="900" b="1">
                <a:solidFill>
                  <a:srgbClr val="059669"/>
                </a:solidFill>
                <a:latin typeface="Arial"/>
              </a:defRPr>
            </a:pPr>
            <a:r>
              <a:t>CLOSED-LOOP CONTINUUM: COLLECT  ➔  VALIDATE  ➔  SAFETY CHECK  ➔  SYNCHRONIZE  ➔  EXPLAIN</a:t>
            </a:r>
          </a:p>
        </p:txBody>
      </p:sp>
      <p:sp>
        <p:nvSpPr>
          <p:cNvPr id="14" name="TextBox 13"/>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PRODUCT CAPABILITIES</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08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Four Core Implemented Modules: End-to-End Workflow</a:t>
            </a:r>
          </a:p>
          <a:p>
            <a:pPr>
              <a:spcBef>
                <a:spcPts val="200"/>
              </a:spcBef>
              <a:defRPr sz="950">
                <a:solidFill>
                  <a:srgbClr val="66736A"/>
                </a:solidFill>
                <a:latin typeface="Arial"/>
              </a:defRPr>
            </a:pPr>
            <a:r>
              <a:t>Every module is fully developed, connected to the FastAPI backend, and verified with real browser screenshots.</a:t>
            </a:r>
          </a:p>
        </p:txBody>
      </p:sp>
      <p:sp>
        <p:nvSpPr>
          <p:cNvPr id="7" name="Rounded Rectangle 6"/>
          <p:cNvSpPr/>
          <p:nvPr/>
        </p:nvSpPr>
        <p:spPr>
          <a:xfrm>
            <a:off x="548640" y="1389888"/>
            <a:ext cx="5440680" cy="2084831"/>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499616"/>
            <a:ext cx="3063240" cy="1865376"/>
          </a:xfrm>
          <a:prstGeom prst="rect">
            <a:avLst/>
          </a:prstGeom>
          <a:solidFill>
            <a:srgbClr val="F5F7F2"/>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4_dashboard_overview.png"/>
          <p:cNvPicPr>
            <a:picLocks noChangeAspect="1"/>
          </p:cNvPicPr>
          <p:nvPr/>
        </p:nvPicPr>
        <p:blipFill>
          <a:blip r:embed="rId2"/>
          <a:stretch>
            <a:fillRect/>
          </a:stretch>
        </p:blipFill>
        <p:spPr>
          <a:xfrm>
            <a:off x="658368" y="1499616"/>
            <a:ext cx="3063240" cy="1865376"/>
          </a:xfrm>
          <a:prstGeom prst="rect">
            <a:avLst/>
          </a:prstGeom>
        </p:spPr>
      </p:pic>
      <p:sp>
        <p:nvSpPr>
          <p:cNvPr id="10" name="TextBox 9"/>
          <p:cNvSpPr txBox="1"/>
          <p:nvPr/>
        </p:nvSpPr>
        <p:spPr>
          <a:xfrm>
            <a:off x="3840480" y="1517904"/>
            <a:ext cx="2011680" cy="1828800"/>
          </a:xfrm>
          <a:prstGeom prst="rect">
            <a:avLst/>
          </a:prstGeom>
          <a:noFill/>
        </p:spPr>
        <p:txBody>
          <a:bodyPr wrap="square" lIns="0" rIns="0" tIns="0" bIns="0">
            <a:spAutoFit/>
          </a:bodyPr>
          <a:lstStyle/>
          <a:p>
            <a:pPr algn="l">
              <a:defRPr sz="1000" b="1">
                <a:solidFill>
                  <a:srgbClr val="2F6B3B"/>
                </a:solidFill>
                <a:latin typeface="Helvetica"/>
              </a:defRPr>
            </a:pPr>
            <a:r>
              <a:t>01 | Executive Farm Dashboard</a:t>
            </a:r>
          </a:p>
          <a:p>
            <a:pPr algn="l">
              <a:spcBef>
                <a:spcPts val="400"/>
              </a:spcBef>
              <a:defRPr sz="800">
                <a:solidFill>
                  <a:srgbClr val="66736A"/>
                </a:solidFill>
                <a:latin typeface="Arial"/>
              </a:defRPr>
            </a:pPr>
            <a:r>
              <a:t>Live farm context, active decision banners, alerts, and system health monitors.</a:t>
            </a:r>
          </a:p>
          <a:p>
            <a:pPr algn="l">
              <a:spcBef>
                <a:spcPts val="600"/>
              </a:spcBef>
              <a:defRPr sz="750" b="1">
                <a:solidFill>
                  <a:srgbClr val="059669"/>
                </a:solidFill>
                <a:latin typeface="Arial"/>
              </a:defRPr>
            </a:pPr>
            <a:r>
              <a:t>✓ Live &amp; Persisted</a:t>
            </a:r>
          </a:p>
        </p:txBody>
      </p:sp>
      <p:sp>
        <p:nvSpPr>
          <p:cNvPr id="11" name="Rounded Rectangle 10"/>
          <p:cNvSpPr/>
          <p:nvPr/>
        </p:nvSpPr>
        <p:spPr>
          <a:xfrm>
            <a:off x="6199631" y="1389888"/>
            <a:ext cx="5440680" cy="2084831"/>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59" y="1499616"/>
            <a:ext cx="3063240" cy="1865376"/>
          </a:xfrm>
          <a:prstGeom prst="rect">
            <a:avLst/>
          </a:prstGeom>
          <a:solidFill>
            <a:srgbClr val="F5F7F2"/>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6_monitoring.png"/>
          <p:cNvPicPr>
            <a:picLocks noChangeAspect="1"/>
          </p:cNvPicPr>
          <p:nvPr/>
        </p:nvPicPr>
        <p:blipFill>
          <a:blip r:embed="rId3"/>
          <a:stretch>
            <a:fillRect/>
          </a:stretch>
        </p:blipFill>
        <p:spPr>
          <a:xfrm>
            <a:off x="6309359" y="1499616"/>
            <a:ext cx="3063240" cy="1865376"/>
          </a:xfrm>
          <a:prstGeom prst="rect">
            <a:avLst/>
          </a:prstGeom>
        </p:spPr>
      </p:pic>
      <p:sp>
        <p:nvSpPr>
          <p:cNvPr id="14" name="TextBox 13"/>
          <p:cNvSpPr txBox="1"/>
          <p:nvPr/>
        </p:nvSpPr>
        <p:spPr>
          <a:xfrm>
            <a:off x="9491471" y="1517904"/>
            <a:ext cx="2011680" cy="1828800"/>
          </a:xfrm>
          <a:prstGeom prst="rect">
            <a:avLst/>
          </a:prstGeom>
          <a:noFill/>
        </p:spPr>
        <p:txBody>
          <a:bodyPr wrap="square" lIns="0" rIns="0" tIns="0" bIns="0">
            <a:spAutoFit/>
          </a:bodyPr>
          <a:lstStyle/>
          <a:p>
            <a:pPr algn="l">
              <a:defRPr sz="1000" b="1">
                <a:solidFill>
                  <a:srgbClr val="2F6B3B"/>
                </a:solidFill>
                <a:latin typeface="Helvetica"/>
              </a:defRPr>
            </a:pPr>
            <a:r>
              <a:t>02 | Field Telemetry Logging</a:t>
            </a:r>
          </a:p>
          <a:p>
            <a:pPr algn="l">
              <a:spcBef>
                <a:spcPts val="400"/>
              </a:spcBef>
              <a:defRPr sz="800">
                <a:solidFill>
                  <a:srgbClr val="66736A"/>
                </a:solidFill>
                <a:latin typeface="Arial"/>
              </a:defRPr>
            </a:pPr>
            <a:r>
              <a:t>Record, persist, and view historical soil moisture, water status, and solar levels.</a:t>
            </a:r>
          </a:p>
          <a:p>
            <a:pPr algn="l">
              <a:spcBef>
                <a:spcPts val="600"/>
              </a:spcBef>
              <a:defRPr sz="750" b="1">
                <a:solidFill>
                  <a:srgbClr val="059669"/>
                </a:solidFill>
                <a:latin typeface="Arial"/>
              </a:defRPr>
            </a:pPr>
            <a:r>
              <a:t>✓ Live &amp; Persisted</a:t>
            </a:r>
          </a:p>
        </p:txBody>
      </p:sp>
      <p:sp>
        <p:nvSpPr>
          <p:cNvPr id="15" name="Rounded Rectangle 14"/>
          <p:cNvSpPr/>
          <p:nvPr/>
        </p:nvSpPr>
        <p:spPr>
          <a:xfrm>
            <a:off x="548640" y="3566160"/>
            <a:ext cx="5440680" cy="2084831"/>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75888"/>
            <a:ext cx="3063240" cy="1865376"/>
          </a:xfrm>
          <a:prstGeom prst="rect">
            <a:avLst/>
          </a:prstGeom>
          <a:solidFill>
            <a:srgbClr val="F5F7F2"/>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8_advice_rain_delay.png"/>
          <p:cNvPicPr>
            <a:picLocks noChangeAspect="1"/>
          </p:cNvPicPr>
          <p:nvPr/>
        </p:nvPicPr>
        <p:blipFill>
          <a:blip r:embed="rId4"/>
          <a:stretch>
            <a:fillRect/>
          </a:stretch>
        </p:blipFill>
        <p:spPr>
          <a:xfrm>
            <a:off x="658368" y="3675888"/>
            <a:ext cx="3063240" cy="1865376"/>
          </a:xfrm>
          <a:prstGeom prst="rect">
            <a:avLst/>
          </a:prstGeom>
        </p:spPr>
      </p:pic>
      <p:sp>
        <p:nvSpPr>
          <p:cNvPr id="18" name="TextBox 17"/>
          <p:cNvSpPr txBox="1"/>
          <p:nvPr/>
        </p:nvSpPr>
        <p:spPr>
          <a:xfrm>
            <a:off x="3840480" y="3694176"/>
            <a:ext cx="2011680" cy="1828800"/>
          </a:xfrm>
          <a:prstGeom prst="rect">
            <a:avLst/>
          </a:prstGeom>
          <a:noFill/>
        </p:spPr>
        <p:txBody>
          <a:bodyPr wrap="square" lIns="0" rIns="0" tIns="0" bIns="0">
            <a:spAutoFit/>
          </a:bodyPr>
          <a:lstStyle/>
          <a:p>
            <a:pPr algn="l">
              <a:defRPr sz="1000" b="1">
                <a:solidFill>
                  <a:srgbClr val="2F6B3B"/>
                </a:solidFill>
                <a:latin typeface="Helvetica"/>
              </a:defRPr>
            </a:pPr>
            <a:r>
              <a:t>03 | AI Advice &amp; Weather Logic</a:t>
            </a:r>
          </a:p>
          <a:p>
            <a:pPr algn="l">
              <a:spcBef>
                <a:spcPts val="400"/>
              </a:spcBef>
              <a:defRPr sz="800">
                <a:solidFill>
                  <a:srgbClr val="66736A"/>
                </a:solidFill>
                <a:latin typeface="Arial"/>
              </a:defRPr>
            </a:pPr>
            <a:r>
              <a:t>Explainable multi-condition irrigation recommendation (shown: Rain Delay postponement).</a:t>
            </a:r>
          </a:p>
          <a:p>
            <a:pPr algn="l">
              <a:spcBef>
                <a:spcPts val="600"/>
              </a:spcBef>
              <a:defRPr sz="750" b="1">
                <a:solidFill>
                  <a:srgbClr val="059669"/>
                </a:solidFill>
                <a:latin typeface="Arial"/>
              </a:defRPr>
            </a:pPr>
            <a:r>
              <a:t>✓ Live &amp; Persisted</a:t>
            </a:r>
          </a:p>
        </p:txBody>
      </p:sp>
      <p:sp>
        <p:nvSpPr>
          <p:cNvPr id="19" name="Rounded Rectangle 18"/>
          <p:cNvSpPr/>
          <p:nvPr/>
        </p:nvSpPr>
        <p:spPr>
          <a:xfrm>
            <a:off x="6199631" y="3566160"/>
            <a:ext cx="5440680" cy="2084831"/>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59" y="3675888"/>
            <a:ext cx="3063240" cy="1865376"/>
          </a:xfrm>
          <a:prstGeom prst="rect">
            <a:avLst/>
          </a:prstGeom>
          <a:solidFill>
            <a:srgbClr val="F5F7F2"/>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09_analytics.png"/>
          <p:cNvPicPr>
            <a:picLocks noChangeAspect="1"/>
          </p:cNvPicPr>
          <p:nvPr/>
        </p:nvPicPr>
        <p:blipFill>
          <a:blip r:embed="rId5"/>
          <a:stretch>
            <a:fillRect/>
          </a:stretch>
        </p:blipFill>
        <p:spPr>
          <a:xfrm>
            <a:off x="6309359" y="3675888"/>
            <a:ext cx="3063240" cy="1865376"/>
          </a:xfrm>
          <a:prstGeom prst="rect">
            <a:avLst/>
          </a:prstGeom>
        </p:spPr>
      </p:pic>
      <p:sp>
        <p:nvSpPr>
          <p:cNvPr id="22" name="TextBox 21"/>
          <p:cNvSpPr txBox="1"/>
          <p:nvPr/>
        </p:nvSpPr>
        <p:spPr>
          <a:xfrm>
            <a:off x="9491471" y="3694176"/>
            <a:ext cx="2011680" cy="1828800"/>
          </a:xfrm>
          <a:prstGeom prst="rect">
            <a:avLst/>
          </a:prstGeom>
          <a:noFill/>
        </p:spPr>
        <p:txBody>
          <a:bodyPr wrap="square" lIns="0" rIns="0" tIns="0" bIns="0">
            <a:spAutoFit/>
          </a:bodyPr>
          <a:lstStyle/>
          <a:p>
            <a:pPr algn="l">
              <a:defRPr sz="1000" b="1">
                <a:solidFill>
                  <a:srgbClr val="2F6B3B"/>
                </a:solidFill>
                <a:latin typeface="Helvetica"/>
              </a:defRPr>
            </a:pPr>
            <a:r>
              <a:t>04 | Historical Trend Analytics</a:t>
            </a:r>
          </a:p>
          <a:p>
            <a:pPr algn="l">
              <a:spcBef>
                <a:spcPts val="400"/>
              </a:spcBef>
              <a:defRPr sz="800">
                <a:solidFill>
                  <a:srgbClr val="66736A"/>
                </a:solidFill>
                <a:latin typeface="Arial"/>
              </a:defRPr>
            </a:pPr>
            <a:r>
              <a:t>Interactive Recharts visualizations across 7-day, 30-day, and all-time observation periods.</a:t>
            </a:r>
          </a:p>
          <a:p>
            <a:pPr algn="l">
              <a:spcBef>
                <a:spcPts val="600"/>
              </a:spcBef>
              <a:defRPr sz="750" b="1">
                <a:solidFill>
                  <a:srgbClr val="059669"/>
                </a:solidFill>
                <a:latin typeface="Arial"/>
              </a:defRPr>
            </a:pPr>
            <a:r>
              <a:t>✓ Live &amp; Persisted</a:t>
            </a:r>
          </a:p>
        </p:txBody>
      </p:sp>
      <p:sp>
        <p:nvSpPr>
          <p:cNvPr id="23" name="Rounded Rectangle 22"/>
          <p:cNvSpPr/>
          <p:nvPr/>
        </p:nvSpPr>
        <p:spPr>
          <a:xfrm>
            <a:off x="548640" y="5779008"/>
            <a:ext cx="11094415" cy="484632"/>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defRPr sz="900" b="1">
                <a:solidFill>
                  <a:srgbClr val="176B87"/>
                </a:solidFill>
                <a:latin typeface="Arial"/>
              </a:defRPr>
            </a:pPr>
            <a:r>
              <a:t>ALL MODULES LIVE AND FUNCTIONAL  •  AUTHENTICATED FARMER SESSIONS  •  SQLITE PERSISTENCE</a:t>
            </a:r>
          </a:p>
        </p:txBody>
      </p:sp>
      <p:sp>
        <p:nvSpPr>
          <p:cNvPr id="24" name="TextBox 23"/>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STRATEGIC CO-OPTIMIZATION</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09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Don't Just Use Solar. Use It When Water Needs It.</a:t>
            </a:r>
          </a:p>
          <a:p>
            <a:pPr>
              <a:spcBef>
                <a:spcPts val="200"/>
              </a:spcBef>
              <a:defRPr sz="950">
                <a:solidFill>
                  <a:srgbClr val="66736A"/>
                </a:solidFill>
                <a:latin typeface="Arial"/>
              </a:defRPr>
            </a:pPr>
            <a:r>
              <a:t>Solar-powered pumping solves clean energy, but does NOT solve groundwater depletion without intelligent timing.</a:t>
            </a:r>
          </a:p>
        </p:txBody>
      </p:sp>
      <p:sp>
        <p:nvSpPr>
          <p:cNvPr id="7" name="Rounded Rectangle 6"/>
          <p:cNvSpPr/>
          <p:nvPr/>
        </p:nvSpPr>
        <p:spPr>
          <a:xfrm>
            <a:off x="548640" y="1389888"/>
            <a:ext cx="5440680" cy="429768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7_img_6.png"/>
          <p:cNvPicPr>
            <a:picLocks noChangeAspect="1"/>
          </p:cNvPicPr>
          <p:nvPr/>
        </p:nvPicPr>
        <p:blipFill>
          <a:blip r:embed="rId2"/>
          <a:stretch>
            <a:fillRect/>
          </a:stretch>
        </p:blipFill>
        <p:spPr>
          <a:xfrm>
            <a:off x="640080" y="1481328"/>
            <a:ext cx="5257800" cy="2834640"/>
          </a:xfrm>
          <a:prstGeom prst="rect">
            <a:avLst/>
          </a:prstGeom>
        </p:spPr>
      </p:pic>
      <p:sp>
        <p:nvSpPr>
          <p:cNvPr id="9" name="Rounded Rectangle 8"/>
          <p:cNvSpPr/>
          <p:nvPr/>
        </p:nvSpPr>
        <p:spPr>
          <a:xfrm>
            <a:off x="640080" y="4407408"/>
            <a:ext cx="5257800" cy="1188720"/>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defRPr sz="850" b="1">
                <a:solidFill>
                  <a:srgbClr val="176B87"/>
                </a:solidFill>
                <a:latin typeface="Helvetica"/>
              </a:defRPr>
            </a:pPr>
            <a:r>
              <a:t>CRITICAL CO-OPTIMIZATION PRINCIPLE</a:t>
            </a:r>
          </a:p>
          <a:p>
            <a:pPr algn="l">
              <a:spcBef>
                <a:spcPts val="200"/>
              </a:spcBef>
              <a:defRPr sz="850" i="1">
                <a:solidFill>
                  <a:srgbClr val="26332A"/>
                </a:solidFill>
                <a:latin typeface="Arial"/>
              </a:defRPr>
            </a:pPr>
            <a:r>
              <a:t>“Solar availability alone does NOT mean the pump should run. If soil moisture is already adequate or rain is coming, pumping simply depletes the aquifer. AquaVolt synchronizes solar power with genuine crop water deficits.”</a:t>
            </a:r>
          </a:p>
        </p:txBody>
      </p:sp>
      <p:sp>
        <p:nvSpPr>
          <p:cNvPr id="10" name="Rounded Rectangle 9"/>
          <p:cNvSpPr/>
          <p:nvPr/>
        </p:nvSpPr>
        <p:spPr>
          <a:xfrm>
            <a:off x="6199632" y="1389888"/>
            <a:ext cx="5440680" cy="429768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46304"/>
          <a:lstStyle/>
          <a:p>
            <a:pPr algn="l">
              <a:defRPr sz="1050" b="1">
                <a:solidFill>
                  <a:srgbClr val="2F6B3B"/>
                </a:solidFill>
                <a:latin typeface="Helvetica"/>
              </a:defRPr>
            </a:pPr>
            <a:r>
              <a:t>THE THREE SIDES OF AQUAVOLT CO-OPTIMIZATION</a:t>
            </a:r>
          </a:p>
          <a:p>
            <a:pPr algn="l">
              <a:spcBef>
                <a:spcPts val="600"/>
              </a:spcBef>
              <a:defRPr sz="950" b="1">
                <a:solidFill>
                  <a:srgbClr val="26332A"/>
                </a:solidFill>
                <a:latin typeface="Helvetica"/>
              </a:defRPr>
            </a:pPr>
            <a:r>
              <a:t>💧 WATER SIDE: PRESERVE GROUNDWATER</a:t>
            </a:r>
          </a:p>
          <a:p>
            <a:pPr algn="l">
              <a:spcBef>
                <a:spcPts val="100"/>
              </a:spcBef>
              <a:defRPr sz="800">
                <a:solidFill>
                  <a:srgbClr val="66736A"/>
                </a:solidFill>
                <a:latin typeface="Arial"/>
              </a:defRPr>
            </a:pPr>
            <a:r>
              <a:t>   Avoids unnecessary extraction, respects aquifer recharge limits, and prevents motor burnout caused by dry-run cavitation.</a:t>
            </a:r>
          </a:p>
          <a:p>
            <a:pPr algn="l">
              <a:spcBef>
                <a:spcPts val="600"/>
              </a:spcBef>
              <a:defRPr sz="950" b="1">
                <a:solidFill>
                  <a:srgbClr val="26332A"/>
                </a:solidFill>
                <a:latin typeface="Helvetica"/>
              </a:defRPr>
            </a:pPr>
            <a:r>
              <a:t>⚡ ENERGY SIDE: MAXIMIZE SOLAR EFFICIENCY</a:t>
            </a:r>
          </a:p>
          <a:p>
            <a:pPr algn="l">
              <a:spcBef>
                <a:spcPts val="100"/>
              </a:spcBef>
              <a:defRPr sz="800">
                <a:solidFill>
                  <a:srgbClr val="66736A"/>
                </a:solidFill>
                <a:latin typeface="Arial"/>
              </a:defRPr>
            </a:pPr>
            <a:r>
              <a:t>   Utilizes zero-cost solar energy during peak irradiance hours, minimizing reliance on expensive grid tariffs or diesel gensets.</a:t>
            </a:r>
          </a:p>
          <a:p>
            <a:pPr algn="l">
              <a:spcBef>
                <a:spcPts val="600"/>
              </a:spcBef>
              <a:defRPr sz="950" b="1">
                <a:solidFill>
                  <a:srgbClr val="26332A"/>
                </a:solidFill>
                <a:latin typeface="Helvetica"/>
              </a:defRPr>
            </a:pPr>
            <a:r>
              <a:t>🌱 CROP SIDE: PRECISION HYDRATION</a:t>
            </a:r>
          </a:p>
          <a:p>
            <a:pPr algn="l">
              <a:spcBef>
                <a:spcPts val="100"/>
              </a:spcBef>
              <a:defRPr sz="800">
                <a:solidFill>
                  <a:srgbClr val="66736A"/>
                </a:solidFill>
                <a:latin typeface="Arial"/>
              </a:defRPr>
            </a:pPr>
            <a:r>
              <a:t>   Delivers water strictly according to crop stage needs and root zone moisture deficits, avoiding crop root asphyxiation.</a:t>
            </a:r>
          </a:p>
        </p:txBody>
      </p:sp>
      <p:sp>
        <p:nvSpPr>
          <p:cNvPr id="11" name="Rounded Rectangle 10"/>
          <p:cNvSpPr/>
          <p:nvPr/>
        </p:nvSpPr>
        <p:spPr>
          <a:xfrm>
            <a:off x="6382512" y="4617720"/>
            <a:ext cx="5074920" cy="9601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a:lstStyle/>
          <a:p>
            <a:pPr algn="l">
              <a:defRPr sz="900" b="1">
                <a:solidFill>
                  <a:srgbClr val="059669"/>
                </a:solidFill>
                <a:latin typeface="Helvetica"/>
              </a:defRPr>
            </a:pPr>
            <a:r>
              <a:t>🎯 UNIFIED RESULT: OPTIMAL IRRIGATION TIMING</a:t>
            </a:r>
          </a:p>
          <a:p>
            <a:pPr algn="l">
              <a:spcBef>
                <a:spcPts val="150"/>
              </a:spcBef>
              <a:defRPr sz="800">
                <a:solidFill>
                  <a:srgbClr val="26332A"/>
                </a:solidFill>
                <a:latin typeface="Arial"/>
              </a:defRPr>
            </a:pPr>
            <a:r>
              <a:t>Identifies the practical time slice where high solar generation, safe borewell reserve, and genuine soil moisture deficit converge — giving farmers total confidence.</a:t>
            </a:r>
          </a:p>
        </p:txBody>
      </p:sp>
      <p:sp>
        <p:nvSpPr>
          <p:cNvPr id="12" name="Rounded Rectangle 11"/>
          <p:cNvSpPr/>
          <p:nvPr/>
        </p:nvSpPr>
        <p:spPr>
          <a:xfrm>
            <a:off x="548640" y="5779008"/>
            <a:ext cx="11094415" cy="48463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defRPr sz="900" b="1">
                <a:solidFill>
                  <a:srgbClr val="D99A22"/>
                </a:solidFill>
                <a:latin typeface="Arial"/>
              </a:defRPr>
            </a:pPr>
            <a:r>
              <a:t>☀️ SUN  ➔  ⚡ PANELS  ➔  🔋 AVAILABLE ENERGY  ➔  ⚙️ PUMP  ➔  💧 WATER  ➔  🌱 CROP</a:t>
            </a:r>
          </a:p>
        </p:txBody>
      </p:sp>
      <p:sp>
        <p:nvSpPr>
          <p:cNvPr id="13" name="TextBox 12"/>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TECHNICAL BLUEPRINT</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10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Full-Stack Architecture: Built for Scalability &amp; Security</a:t>
            </a:r>
          </a:p>
          <a:p>
            <a:pPr>
              <a:spcBef>
                <a:spcPts val="200"/>
              </a:spcBef>
              <a:defRPr sz="950">
                <a:solidFill>
                  <a:srgbClr val="66736A"/>
                </a:solidFill>
                <a:latin typeface="Arial"/>
              </a:defRPr>
            </a:pPr>
            <a:r>
              <a:t>End-to-end modern stack connecting reactive frontend interfaces to Python FastAPI services and persistent SQLite storage.</a:t>
            </a:r>
          </a:p>
        </p:txBody>
      </p:sp>
      <p:sp>
        <p:nvSpPr>
          <p:cNvPr id="7" name="Rounded Rectangle 6"/>
          <p:cNvSpPr/>
          <p:nvPr/>
        </p:nvSpPr>
        <p:spPr>
          <a:xfrm>
            <a:off x="548640" y="1389888"/>
            <a:ext cx="6217920" cy="77724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l">
              <a:defRPr sz="950" b="1">
                <a:solidFill>
                  <a:srgbClr val="176B87"/>
                </a:solidFill>
                <a:latin typeface="Helvetica"/>
              </a:defRPr>
            </a:pPr>
            <a:r>
              <a:t>LAYER 1: FARMER PRESENTATION LAYER</a:t>
            </a:r>
          </a:p>
          <a:p>
            <a:pPr algn="l">
              <a:spcBef>
                <a:spcPts val="200"/>
              </a:spcBef>
              <a:defRPr sz="850">
                <a:solidFill>
                  <a:srgbClr val="26332A"/>
                </a:solidFill>
                <a:latin typeface="Arial"/>
              </a:defRPr>
            </a:pPr>
            <a:r>
              <a:t>React 18 • TypeScript • Vite • Tailwind CSS • Lucide Icons • Responsive Mobile &amp; Desktop Layouts</a:t>
            </a:r>
          </a:p>
        </p:txBody>
      </p:sp>
      <p:sp>
        <p:nvSpPr>
          <p:cNvPr id="8" name="Rounded Rectangle 7"/>
          <p:cNvSpPr/>
          <p:nvPr/>
        </p:nvSpPr>
        <p:spPr>
          <a:xfrm>
            <a:off x="548640" y="2249424"/>
            <a:ext cx="6217920" cy="77724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l">
              <a:defRPr sz="950" b="1">
                <a:solidFill>
                  <a:srgbClr val="176B87"/>
                </a:solidFill>
                <a:latin typeface="Helvetica"/>
              </a:defRPr>
            </a:pPr>
            <a:r>
              <a:t>LAYER 2: SECURE API &amp; AUTHENTICATION</a:t>
            </a:r>
          </a:p>
          <a:p>
            <a:pPr algn="l">
              <a:spcBef>
                <a:spcPts val="200"/>
              </a:spcBef>
              <a:defRPr sz="850">
                <a:solidFill>
                  <a:srgbClr val="26332A"/>
                </a:solidFill>
                <a:latin typeface="Arial"/>
              </a:defRPr>
            </a:pPr>
            <a:r>
              <a:t>FastAPI REST API • OAuth2 Password Bearer • JWT Token Security • Bcrypt Password Hashing</a:t>
            </a:r>
          </a:p>
        </p:txBody>
      </p:sp>
      <p:sp>
        <p:nvSpPr>
          <p:cNvPr id="9" name="Rounded Rectangle 8"/>
          <p:cNvSpPr/>
          <p:nvPr/>
        </p:nvSpPr>
        <p:spPr>
          <a:xfrm>
            <a:off x="548640" y="3108960"/>
            <a:ext cx="6217920" cy="77724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l">
              <a:defRPr sz="950" b="1">
                <a:solidFill>
                  <a:srgbClr val="176B87"/>
                </a:solidFill>
                <a:latin typeface="Helvetica"/>
              </a:defRPr>
            </a:pPr>
            <a:r>
              <a:t>LAYER 3: DECISION &amp; ANALYTICS ENGINE</a:t>
            </a:r>
          </a:p>
          <a:p>
            <a:pPr algn="l">
              <a:spcBef>
                <a:spcPts val="200"/>
              </a:spcBef>
              <a:defRPr sz="850">
                <a:solidFill>
                  <a:srgbClr val="26332A"/>
                </a:solidFill>
                <a:latin typeface="Arial"/>
              </a:defRPr>
            </a:pPr>
            <a:r>
              <a:t>Deterministic Multi-Condition Rules • Priority Safety Checks • Recharts Trend Visualizations</a:t>
            </a:r>
          </a:p>
        </p:txBody>
      </p:sp>
      <p:sp>
        <p:nvSpPr>
          <p:cNvPr id="10" name="Rounded Rectangle 9"/>
          <p:cNvSpPr/>
          <p:nvPr/>
        </p:nvSpPr>
        <p:spPr>
          <a:xfrm>
            <a:off x="548640" y="3968496"/>
            <a:ext cx="6217920" cy="77724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l">
              <a:defRPr sz="950" b="1">
                <a:solidFill>
                  <a:srgbClr val="176B87"/>
                </a:solidFill>
                <a:latin typeface="Helvetica"/>
              </a:defRPr>
            </a:pPr>
            <a:r>
              <a:t>LAYER 4: BACKEND &amp; DATA PERSISTENCE</a:t>
            </a:r>
          </a:p>
          <a:p>
            <a:pPr algn="l">
              <a:spcBef>
                <a:spcPts val="200"/>
              </a:spcBef>
              <a:defRPr sz="850">
                <a:solidFill>
                  <a:srgbClr val="26332A"/>
                </a:solidFill>
                <a:latin typeface="Arial"/>
              </a:defRPr>
            </a:pPr>
            <a:r>
              <a:t>Python 3.9+ • SQLite (data/aquavolt.db) • SQLAlchemy ORM • User Scoped Farm Isolation</a:t>
            </a:r>
          </a:p>
        </p:txBody>
      </p:sp>
      <p:sp>
        <p:nvSpPr>
          <p:cNvPr id="11" name="Rounded Rectangle 10"/>
          <p:cNvSpPr/>
          <p:nvPr/>
        </p:nvSpPr>
        <p:spPr>
          <a:xfrm>
            <a:off x="548640" y="4828031"/>
            <a:ext cx="6217920" cy="77724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l">
              <a:defRPr sz="950" b="1">
                <a:solidFill>
                  <a:srgbClr val="176B87"/>
                </a:solidFill>
                <a:latin typeface="Helvetica"/>
              </a:defRPr>
            </a:pPr>
            <a:r>
              <a:t>LAYER 5: MULTILINGUAL FOUNDATION</a:t>
            </a:r>
          </a:p>
          <a:p>
            <a:pPr algn="l">
              <a:spcBef>
                <a:spcPts val="200"/>
              </a:spcBef>
              <a:defRPr sz="850">
                <a:solidFill>
                  <a:srgbClr val="26332A"/>
                </a:solidFill>
                <a:latin typeface="Arial"/>
              </a:defRPr>
            </a:pPr>
            <a:r>
              <a:t>English, Marathi, and Hindi Translation Architecture with Modular Key Dictionaries</a:t>
            </a:r>
          </a:p>
        </p:txBody>
      </p:sp>
      <p:sp>
        <p:nvSpPr>
          <p:cNvPr id="12" name="Rounded Rectangle 11"/>
          <p:cNvSpPr/>
          <p:nvPr/>
        </p:nvSpPr>
        <p:spPr>
          <a:xfrm>
            <a:off x="6995160" y="1389888"/>
            <a:ext cx="4645152" cy="420624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ot_architecture.jpg"/>
          <p:cNvPicPr>
            <a:picLocks noChangeAspect="1"/>
          </p:cNvPicPr>
          <p:nvPr/>
        </p:nvPicPr>
        <p:blipFill>
          <a:blip r:embed="rId2"/>
          <a:stretch>
            <a:fillRect/>
          </a:stretch>
        </p:blipFill>
        <p:spPr>
          <a:xfrm>
            <a:off x="7086600" y="1481328"/>
            <a:ext cx="4462272" cy="2743200"/>
          </a:xfrm>
          <a:prstGeom prst="rect">
            <a:avLst/>
          </a:prstGeom>
        </p:spPr>
      </p:pic>
      <p:sp>
        <p:nvSpPr>
          <p:cNvPr id="14" name="Rounded Rectangle 13"/>
          <p:cNvSpPr/>
          <p:nvPr/>
        </p:nvSpPr>
        <p:spPr>
          <a:xfrm>
            <a:off x="7086600" y="4315968"/>
            <a:ext cx="4462272" cy="1188720"/>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defRPr sz="850" b="1">
                <a:solidFill>
                  <a:srgbClr val="176B87"/>
                </a:solidFill>
                <a:latin typeface="Helvetica"/>
              </a:defRPr>
            </a:pPr>
            <a:r>
              <a:t>CONCEPTUAL IOT ARCHITECTURE (ROADMAP)</a:t>
            </a:r>
          </a:p>
          <a:p>
            <a:pPr algn="l">
              <a:spcBef>
                <a:spcPts val="200"/>
              </a:spcBef>
              <a:defRPr sz="800">
                <a:solidFill>
                  <a:srgbClr val="26332A"/>
                </a:solidFill>
                <a:latin typeface="Arial"/>
              </a:defRPr>
            </a:pPr>
            <a:r>
              <a:t>Future hardware telemetry: Wireless LoRa soil sensors, pipe flow meters, solar inverter telemetry, and cloud synchronization — designed to plug into the current FastAPI backend.</a:t>
            </a:r>
          </a:p>
        </p:txBody>
      </p:sp>
      <p:sp>
        <p:nvSpPr>
          <p:cNvPr id="15" name="Rounded Rectangle 14"/>
          <p:cNvSpPr/>
          <p:nvPr/>
        </p:nvSpPr>
        <p:spPr>
          <a:xfrm>
            <a:off x="548640" y="5779008"/>
            <a:ext cx="5440680" cy="4846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850" b="1">
                <a:solidFill>
                  <a:srgbClr val="059669"/>
                </a:solidFill>
                <a:latin typeface="Arial"/>
              </a:defRPr>
            </a:pPr>
            <a:r>
              <a:t>🟢 CURRENT STACK: React 18 • Vite • FastAPI • SQLite • JWT • Recharts</a:t>
            </a:r>
          </a:p>
        </p:txBody>
      </p:sp>
      <p:sp>
        <p:nvSpPr>
          <p:cNvPr id="16" name="Rounded Rectangle 15"/>
          <p:cNvSpPr/>
          <p:nvPr/>
        </p:nvSpPr>
        <p:spPr>
          <a:xfrm>
            <a:off x="6199632" y="5779008"/>
            <a:ext cx="5440680" cy="484632"/>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lIns="182880" rIns="182880"/>
          <a:lstStyle/>
          <a:p>
            <a:pPr algn="ctr">
              <a:defRPr sz="850" b="1">
                <a:solidFill>
                  <a:srgbClr val="176B87"/>
                </a:solidFill>
                <a:latin typeface="Arial"/>
              </a:defRPr>
            </a:pPr>
            <a:r>
              <a:t>🔵 FUTURE TARGETS: IoT Sensors • Weather API • Inverter Telemetry • ML</a:t>
            </a:r>
          </a:p>
        </p:txBody>
      </p:sp>
      <p:sp>
        <p:nvSpPr>
          <p:cNvPr id="17" name="TextBox 16"/>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SIGNATURE INNOVATION</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11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Toward Farm-Specific Borewell Intelligence</a:t>
            </a:r>
          </a:p>
          <a:p>
            <a:pPr>
              <a:spcBef>
                <a:spcPts val="200"/>
              </a:spcBef>
              <a:defRPr sz="950">
                <a:solidFill>
                  <a:srgbClr val="66736A"/>
                </a:solidFill>
                <a:latin typeface="Arial"/>
              </a:defRPr>
            </a:pPr>
            <a:r>
              <a:t>Every borewell behaves differently. AquaVolt is designed to evolve from basic level monitoring toward dynamic aquifer characterization.</a:t>
            </a:r>
          </a:p>
        </p:txBody>
      </p:sp>
      <p:sp>
        <p:nvSpPr>
          <p:cNvPr id="7" name="Rounded Rectangle 6"/>
          <p:cNvSpPr/>
          <p:nvPr/>
        </p:nvSpPr>
        <p:spPr>
          <a:xfrm>
            <a:off x="548640" y="1389888"/>
            <a:ext cx="6217920" cy="429768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6_img_14.png"/>
          <p:cNvPicPr>
            <a:picLocks noChangeAspect="1"/>
          </p:cNvPicPr>
          <p:nvPr/>
        </p:nvPicPr>
        <p:blipFill>
          <a:blip r:embed="rId2"/>
          <a:stretch>
            <a:fillRect/>
          </a:stretch>
        </p:blipFill>
        <p:spPr>
          <a:xfrm>
            <a:off x="640080" y="1481328"/>
            <a:ext cx="6035040" cy="2926080"/>
          </a:xfrm>
          <a:prstGeom prst="rect">
            <a:avLst/>
          </a:prstGeom>
        </p:spPr>
      </p:pic>
      <p:sp>
        <p:nvSpPr>
          <p:cNvPr id="9" name="Rounded Rectangle 8"/>
          <p:cNvSpPr/>
          <p:nvPr/>
        </p:nvSpPr>
        <p:spPr>
          <a:xfrm>
            <a:off x="640080" y="4498848"/>
            <a:ext cx="6035040" cy="1097280"/>
          </a:xfrm>
          <a:prstGeom prst="roundRect">
            <a:avLst/>
          </a:prstGeom>
          <a:solidFill>
            <a:srgbClr val="FEF3C7"/>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l">
              <a:defRPr sz="800" b="1">
                <a:solidFill>
                  <a:srgbClr val="D99A22"/>
                </a:solidFill>
                <a:latin typeface="Helvetica"/>
              </a:defRPr>
            </a:pPr>
            <a:r>
              <a:t>⚠️ ILLUSTRATIVE FUTURE CHARACTERIZATION MODEL — NOT MEASURED LIVE AQUIFER DATA</a:t>
            </a:r>
          </a:p>
          <a:p>
            <a:pPr algn="l">
              <a:spcBef>
                <a:spcPts val="200"/>
              </a:spcBef>
              <a:defRPr sz="800">
                <a:solidFill>
                  <a:srgbClr val="26332A"/>
                </a:solidFill>
                <a:latin typeface="Arial"/>
              </a:defRPr>
            </a:pPr>
            <a:r>
              <a:t>AquaVolt's core research premise is that borewells undergo steep drawdowns and non-linear recharge. The graph illustrates the target dynamic behavior model intended for future IoT telemetry.</a:t>
            </a:r>
          </a:p>
        </p:txBody>
      </p:sp>
      <p:sp>
        <p:nvSpPr>
          <p:cNvPr id="10" name="Rounded Rectangle 9"/>
          <p:cNvSpPr/>
          <p:nvPr/>
        </p:nvSpPr>
        <p:spPr>
          <a:xfrm>
            <a:off x="6995160" y="1389888"/>
            <a:ext cx="4645152" cy="429768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l">
              <a:defRPr sz="1000" b="1">
                <a:solidFill>
                  <a:srgbClr val="2F6B3B"/>
                </a:solidFill>
                <a:latin typeface="Helvetica"/>
              </a:defRPr>
            </a:pPr>
            <a:r>
              <a:t>THE 6-PHASE BOREWELL OBSERVATION CYCLE</a:t>
            </a:r>
          </a:p>
          <a:p>
            <a:pPr algn="l">
              <a:spcBef>
                <a:spcPts val="500"/>
              </a:spcBef>
              <a:defRPr sz="900" b="1">
                <a:solidFill>
                  <a:srgbClr val="26332A"/>
                </a:solidFill>
                <a:latin typeface="Helvetica"/>
              </a:defRPr>
            </a:pPr>
            <a:r>
              <a:t>1. BEFORE PUMPING</a:t>
            </a:r>
          </a:p>
          <a:p>
            <a:pPr algn="l">
              <a:spcBef>
                <a:spcPts val="100"/>
              </a:spcBef>
              <a:defRPr sz="800">
                <a:solidFill>
                  <a:srgbClr val="66736A"/>
                </a:solidFill>
                <a:latin typeface="Arial"/>
              </a:defRPr>
            </a:pPr>
            <a:r>
              <a:t>   Assesses baseline resting water column depth &amp; equilibrium.</a:t>
            </a:r>
          </a:p>
          <a:p>
            <a:pPr algn="l">
              <a:spcBef>
                <a:spcPts val="500"/>
              </a:spcBef>
              <a:defRPr sz="900" b="1">
                <a:solidFill>
                  <a:srgbClr val="26332A"/>
                </a:solidFill>
                <a:latin typeface="Helvetica"/>
              </a:defRPr>
            </a:pPr>
            <a:r>
              <a:t>2. PUMP START</a:t>
            </a:r>
          </a:p>
          <a:p>
            <a:pPr algn="l">
              <a:spcBef>
                <a:spcPts val="100"/>
              </a:spcBef>
              <a:defRPr sz="800">
                <a:solidFill>
                  <a:srgbClr val="66736A"/>
                </a:solidFill>
                <a:latin typeface="Arial"/>
              </a:defRPr>
            </a:pPr>
            <a:r>
              <a:t>   Tracks initial drawdown velocity and motor power load.</a:t>
            </a:r>
          </a:p>
          <a:p>
            <a:pPr algn="l">
              <a:spcBef>
                <a:spcPts val="500"/>
              </a:spcBef>
              <a:defRPr sz="900" b="1">
                <a:solidFill>
                  <a:srgbClr val="26332A"/>
                </a:solidFill>
                <a:latin typeface="Helvetica"/>
              </a:defRPr>
            </a:pPr>
            <a:r>
              <a:t>3. DURING PUMPING</a:t>
            </a:r>
          </a:p>
          <a:p>
            <a:pPr algn="l">
              <a:spcBef>
                <a:spcPts val="100"/>
              </a:spcBef>
              <a:defRPr sz="800">
                <a:solidFill>
                  <a:srgbClr val="66736A"/>
                </a:solidFill>
                <a:latin typeface="Arial"/>
              </a:defRPr>
            </a:pPr>
            <a:r>
              <a:t>   Monitors discharge flow rate (LPM) changes &amp; drawdown slope.</a:t>
            </a:r>
          </a:p>
          <a:p>
            <a:pPr algn="l">
              <a:spcBef>
                <a:spcPts val="500"/>
              </a:spcBef>
              <a:defRPr sz="900" b="1">
                <a:solidFill>
                  <a:srgbClr val="26332A"/>
                </a:solidFill>
                <a:latin typeface="Helvetica"/>
              </a:defRPr>
            </a:pPr>
            <a:r>
              <a:t>4. PUMP CUT-OFF</a:t>
            </a:r>
          </a:p>
          <a:p>
            <a:pPr algn="l">
              <a:spcBef>
                <a:spcPts val="100"/>
              </a:spcBef>
              <a:defRPr sz="800">
                <a:solidFill>
                  <a:srgbClr val="66736A"/>
                </a:solidFill>
                <a:latin typeface="Arial"/>
              </a:defRPr>
            </a:pPr>
            <a:r>
              <a:t>   Detects safe threshold drop to prevent motor dry-running.</a:t>
            </a:r>
          </a:p>
          <a:p>
            <a:pPr algn="l">
              <a:spcBef>
                <a:spcPts val="500"/>
              </a:spcBef>
              <a:defRPr sz="900" b="1">
                <a:solidFill>
                  <a:srgbClr val="26332A"/>
                </a:solidFill>
                <a:latin typeface="Helvetica"/>
              </a:defRPr>
            </a:pPr>
            <a:r>
              <a:t>5. RECOVERY PHASE</a:t>
            </a:r>
          </a:p>
          <a:p>
            <a:pPr algn="l">
              <a:spcBef>
                <a:spcPts val="100"/>
              </a:spcBef>
              <a:defRPr sz="800">
                <a:solidFill>
                  <a:srgbClr val="66736A"/>
                </a:solidFill>
                <a:latin typeface="Arial"/>
              </a:defRPr>
            </a:pPr>
            <a:r>
              <a:t>   Tracks aquifer recharge speed &amp; inflow recovery slope.</a:t>
            </a:r>
          </a:p>
          <a:p>
            <a:pPr algn="l">
              <a:spcBef>
                <a:spcPts val="500"/>
              </a:spcBef>
              <a:defRPr sz="900" b="1">
                <a:solidFill>
                  <a:srgbClr val="26332A"/>
                </a:solidFill>
                <a:latin typeface="Helvetica"/>
              </a:defRPr>
            </a:pPr>
            <a:r>
              <a:t>6. NEXT PUMPING WINDOW</a:t>
            </a:r>
          </a:p>
          <a:p>
            <a:pPr algn="l">
              <a:spcBef>
                <a:spcPts val="100"/>
              </a:spcBef>
              <a:defRPr sz="800">
                <a:solidFill>
                  <a:srgbClr val="66736A"/>
                </a:solidFill>
                <a:latin typeface="Arial"/>
              </a:defRPr>
            </a:pPr>
            <a:r>
              <a:t>   Calculates optimal timestamp when safe water depth is restored.</a:t>
            </a:r>
          </a:p>
        </p:txBody>
      </p:sp>
      <p:sp>
        <p:nvSpPr>
          <p:cNvPr id="11" name="Rounded Rectangle 10"/>
          <p:cNvSpPr/>
          <p:nvPr/>
        </p:nvSpPr>
        <p:spPr>
          <a:xfrm>
            <a:off x="548640" y="5779008"/>
            <a:ext cx="11094415" cy="484632"/>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defRPr sz="850" b="1">
                <a:solidFill>
                  <a:srgbClr val="176B87"/>
                </a:solidFill>
                <a:latin typeface="Arial"/>
              </a:defRPr>
            </a:pPr>
            <a:r>
              <a:t>ILLUSTRATIVE TARGET: 15-min Extraction ➔ Flow Drops ➔ Pump Cut-off ➔ ~1 hr Recovery ➔ Safe Next Window</a:t>
            </a:r>
          </a:p>
        </p:txBody>
      </p:sp>
      <p:sp>
        <p:nvSpPr>
          <p:cNvPr id="12" name="TextBox 11"/>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
            <a:ext cx="11094415" cy="3657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384048"/>
            <a:ext cx="2651760" cy="2560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059669"/>
                </a:solidFill>
                <a:latin typeface="Arial"/>
              </a:defRPr>
            </a:pPr>
            <a:r>
              <a:t>ROADMAP &amp; IMPACT</a:t>
            </a:r>
          </a:p>
        </p:txBody>
      </p:sp>
      <p:sp>
        <p:nvSpPr>
          <p:cNvPr id="5" name="Rounded Rectangle 4"/>
          <p:cNvSpPr/>
          <p:nvPr/>
        </p:nvSpPr>
        <p:spPr>
          <a:xfrm>
            <a:off x="10972800" y="384048"/>
            <a:ext cx="670255" cy="256032"/>
          </a:xfrm>
          <a:prstGeom prst="roundRect">
            <a:avLst/>
          </a:prstGeom>
          <a:solidFill>
            <a:srgbClr val="EAEEE9"/>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66736A"/>
                </a:solidFill>
                <a:latin typeface="Arial"/>
              </a:defRPr>
            </a:pPr>
            <a:r>
              <a:t>12 / 13</a:t>
            </a:r>
          </a:p>
        </p:txBody>
      </p:sp>
      <p:sp>
        <p:nvSpPr>
          <p:cNvPr id="6" name="TextBox 5"/>
          <p:cNvSpPr txBox="1"/>
          <p:nvPr/>
        </p:nvSpPr>
        <p:spPr>
          <a:xfrm>
            <a:off x="502920" y="676656"/>
            <a:ext cx="11155680" cy="621792"/>
          </a:xfrm>
          <a:prstGeom prst="rect">
            <a:avLst/>
          </a:prstGeom>
          <a:noFill/>
        </p:spPr>
        <p:txBody>
          <a:bodyPr wrap="square" lIns="0" rIns="0" tIns="0" bIns="0">
            <a:spAutoFit/>
          </a:bodyPr>
          <a:lstStyle/>
          <a:p>
            <a:pPr>
              <a:defRPr sz="1800" b="1">
                <a:solidFill>
                  <a:srgbClr val="26332A"/>
                </a:solidFill>
                <a:latin typeface="Helvetica"/>
              </a:defRPr>
            </a:pPr>
            <a:r>
              <a:t>Roadmap &amp; Realistic Impact Targets</a:t>
            </a:r>
          </a:p>
          <a:p>
            <a:pPr>
              <a:spcBef>
                <a:spcPts val="200"/>
              </a:spcBef>
              <a:defRPr sz="950">
                <a:solidFill>
                  <a:srgbClr val="66736A"/>
                </a:solidFill>
                <a:latin typeface="Arial"/>
              </a:defRPr>
            </a:pPr>
            <a:r>
              <a:t>Disciplined separation of tested production features, near-term development, and long-term research.</a:t>
            </a:r>
          </a:p>
        </p:txBody>
      </p:sp>
      <p:sp>
        <p:nvSpPr>
          <p:cNvPr id="7" name="Rounded Rectangle 6"/>
          <p:cNvSpPr/>
          <p:nvPr/>
        </p:nvSpPr>
        <p:spPr>
          <a:xfrm>
            <a:off x="548640" y="1389888"/>
            <a:ext cx="3575304" cy="310896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l">
              <a:defRPr sz="950" b="1">
                <a:solidFill>
                  <a:srgbClr val="059669"/>
                </a:solidFill>
                <a:latin typeface="Helvetica"/>
              </a:defRPr>
            </a:pPr>
            <a:r>
              <a:t>🟢 CURRENT  •  Implemented Now</a:t>
            </a:r>
          </a:p>
          <a:p>
            <a:pPr algn="l">
              <a:spcBef>
                <a:spcPts val="250"/>
              </a:spcBef>
              <a:defRPr sz="780">
                <a:solidFill>
                  <a:srgbClr val="26332A"/>
                </a:solidFill>
                <a:latin typeface="Arial"/>
              </a:defRPr>
            </a:pPr>
            <a:r>
              <a:t>• Full React + Vite web platform</a:t>
            </a:r>
          </a:p>
          <a:p>
            <a:pPr algn="l">
              <a:spcBef>
                <a:spcPts val="250"/>
              </a:spcBef>
              <a:defRPr sz="780">
                <a:solidFill>
                  <a:srgbClr val="26332A"/>
                </a:solidFill>
                <a:latin typeface="Arial"/>
              </a:defRPr>
            </a:pPr>
            <a:r>
              <a:t>• Secure JWT auth &amp; farm profile isolation</a:t>
            </a:r>
          </a:p>
          <a:p>
            <a:pPr algn="l">
              <a:spcBef>
                <a:spcPts val="250"/>
              </a:spcBef>
              <a:defRPr sz="780">
                <a:solidFill>
                  <a:srgbClr val="26332A"/>
                </a:solidFill>
                <a:latin typeface="Arial"/>
              </a:defRPr>
            </a:pPr>
            <a:r>
              <a:t>• Multi-step farm onboarding &amp; profile editing</a:t>
            </a:r>
          </a:p>
          <a:p>
            <a:pPr algn="l">
              <a:spcBef>
                <a:spcPts val="250"/>
              </a:spcBef>
              <a:defRPr sz="780">
                <a:solidFill>
                  <a:srgbClr val="26332A"/>
                </a:solidFill>
                <a:latin typeface="Arial"/>
              </a:defRPr>
            </a:pPr>
            <a:r>
              <a:t>• Field monitoring logging &amp; persistent SQLite</a:t>
            </a:r>
          </a:p>
          <a:p>
            <a:pPr algn="l">
              <a:spcBef>
                <a:spcPts val="250"/>
              </a:spcBef>
              <a:defRPr sz="780">
                <a:solidFill>
                  <a:srgbClr val="26332A"/>
                </a:solidFill>
                <a:latin typeface="Arial"/>
              </a:defRPr>
            </a:pPr>
            <a:r>
              <a:t>• Deterministic Advice Engine (Solar Window, Rain Delay)</a:t>
            </a:r>
          </a:p>
          <a:p>
            <a:pPr algn="l">
              <a:spcBef>
                <a:spcPts val="250"/>
              </a:spcBef>
              <a:defRPr sz="780">
                <a:solidFill>
                  <a:srgbClr val="26332A"/>
                </a:solidFill>
                <a:latin typeface="Arial"/>
              </a:defRPr>
            </a:pPr>
            <a:r>
              <a:t>• Executive Dashboard with live alert cards</a:t>
            </a:r>
          </a:p>
          <a:p>
            <a:pPr algn="l">
              <a:spcBef>
                <a:spcPts val="250"/>
              </a:spcBef>
              <a:defRPr sz="780">
                <a:solidFill>
                  <a:srgbClr val="26332A"/>
                </a:solidFill>
                <a:latin typeface="Arial"/>
              </a:defRPr>
            </a:pPr>
            <a:r>
              <a:t>• Interactive Recharts Analytics (7d / 30d / All)</a:t>
            </a:r>
          </a:p>
          <a:p>
            <a:pPr algn="l">
              <a:spcBef>
                <a:spcPts val="250"/>
              </a:spcBef>
              <a:defRPr sz="780">
                <a:solidFill>
                  <a:srgbClr val="26332A"/>
                </a:solidFill>
                <a:latin typeface="Arial"/>
              </a:defRPr>
            </a:pPr>
            <a:r>
              <a:t>• English, Marathi &amp; Hindi localization base</a:t>
            </a:r>
          </a:p>
          <a:p>
            <a:pPr algn="l">
              <a:spcBef>
                <a:spcPts val="250"/>
              </a:spcBef>
              <a:defRPr sz="780">
                <a:solidFill>
                  <a:srgbClr val="26332A"/>
                </a:solidFill>
                <a:latin typeface="Arial"/>
              </a:defRPr>
            </a:pPr>
            <a:r>
              <a:t>• Seeded demo dataset &amp; test suite</a:t>
            </a:r>
          </a:p>
        </p:txBody>
      </p:sp>
      <p:sp>
        <p:nvSpPr>
          <p:cNvPr id="8" name="Rounded Rectangle 7"/>
          <p:cNvSpPr/>
          <p:nvPr/>
        </p:nvSpPr>
        <p:spPr>
          <a:xfrm>
            <a:off x="4306824" y="1389888"/>
            <a:ext cx="3575304" cy="3108960"/>
          </a:xfrm>
          <a:prstGeom prst="roundRect">
            <a:avLst/>
          </a:prstGeom>
          <a:solidFill>
            <a:srgbClr val="FEF3C7"/>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l">
              <a:defRPr sz="950" b="1">
                <a:solidFill>
                  <a:srgbClr val="D99A22"/>
                </a:solidFill>
                <a:latin typeface="Helvetica"/>
              </a:defRPr>
            </a:pPr>
            <a:r>
              <a:t>🟡 NEXT  •  Near-Term Phase</a:t>
            </a:r>
          </a:p>
          <a:p>
            <a:pPr algn="l">
              <a:spcBef>
                <a:spcPts val="250"/>
              </a:spcBef>
              <a:defRPr sz="780">
                <a:solidFill>
                  <a:srgbClr val="26332A"/>
                </a:solidFill>
                <a:latin typeface="Arial"/>
              </a:defRPr>
            </a:pPr>
            <a:r>
              <a:t>• Live Weather API synchronization</a:t>
            </a:r>
          </a:p>
          <a:p>
            <a:pPr algn="l">
              <a:spcBef>
                <a:spcPts val="250"/>
              </a:spcBef>
              <a:defRPr sz="780">
                <a:solidFill>
                  <a:srgbClr val="26332A"/>
                </a:solidFill>
                <a:latin typeface="Arial"/>
              </a:defRPr>
            </a:pPr>
            <a:r>
              <a:t>• Physical IoT sensor gateway integration</a:t>
            </a:r>
          </a:p>
          <a:p>
            <a:pPr algn="l">
              <a:spcBef>
                <a:spcPts val="250"/>
              </a:spcBef>
              <a:defRPr sz="780">
                <a:solidFill>
                  <a:srgbClr val="26332A"/>
                </a:solidFill>
                <a:latin typeface="Arial"/>
              </a:defRPr>
            </a:pPr>
            <a:r>
              <a:t>• Solar panel inverter telemetry ingestion</a:t>
            </a:r>
          </a:p>
          <a:p>
            <a:pPr algn="l">
              <a:spcBef>
                <a:spcPts val="250"/>
              </a:spcBef>
              <a:defRPr sz="780">
                <a:solidFill>
                  <a:srgbClr val="26332A"/>
                </a:solidFill>
                <a:latin typeface="Arial"/>
              </a:defRPr>
            </a:pPr>
            <a:r>
              <a:t>• Automated SMS &amp; WhatsApp alert notifications</a:t>
            </a:r>
          </a:p>
          <a:p>
            <a:pPr algn="l">
              <a:spcBef>
                <a:spcPts val="250"/>
              </a:spcBef>
              <a:defRPr sz="780">
                <a:solidFill>
                  <a:srgbClr val="26332A"/>
                </a:solidFill>
                <a:latin typeface="Arial"/>
              </a:defRPr>
            </a:pPr>
            <a:r>
              <a:t>• Expanded regional language coverage</a:t>
            </a:r>
          </a:p>
          <a:p>
            <a:pPr algn="l">
              <a:spcBef>
                <a:spcPts val="250"/>
              </a:spcBef>
              <a:defRPr sz="780">
                <a:solidFill>
                  <a:srgbClr val="26332A"/>
                </a:solidFill>
                <a:latin typeface="Arial"/>
              </a:defRPr>
            </a:pPr>
            <a:r>
              <a:t>• Basic borewell recharge recovery timing</a:t>
            </a:r>
          </a:p>
          <a:p>
            <a:pPr algn="l">
              <a:spcBef>
                <a:spcPts val="250"/>
              </a:spcBef>
              <a:defRPr sz="780">
                <a:solidFill>
                  <a:srgbClr val="26332A"/>
                </a:solidFill>
                <a:latin typeface="Arial"/>
              </a:defRPr>
            </a:pPr>
            <a:r>
              <a:t>• Pump runtime hour tracking hardware</a:t>
            </a:r>
          </a:p>
          <a:p>
            <a:pPr algn="l">
              <a:spcBef>
                <a:spcPts val="250"/>
              </a:spcBef>
              <a:defRPr sz="780">
                <a:solidFill>
                  <a:srgbClr val="26332A"/>
                </a:solidFill>
                <a:latin typeface="Arial"/>
              </a:defRPr>
            </a:pPr>
            <a:r>
              <a:t>• Regional solar irradiance lookup</a:t>
            </a:r>
          </a:p>
          <a:p>
            <a:pPr algn="l">
              <a:spcBef>
                <a:spcPts val="250"/>
              </a:spcBef>
              <a:defRPr sz="780">
                <a:solidFill>
                  <a:srgbClr val="26332A"/>
                </a:solidFill>
                <a:latin typeface="Arial"/>
              </a:defRPr>
            </a:pPr>
            <a:r>
              <a:t>• Farmer feedback loop integration</a:t>
            </a:r>
          </a:p>
        </p:txBody>
      </p:sp>
      <p:sp>
        <p:nvSpPr>
          <p:cNvPr id="9" name="Rounded Rectangle 8"/>
          <p:cNvSpPr/>
          <p:nvPr/>
        </p:nvSpPr>
        <p:spPr>
          <a:xfrm>
            <a:off x="8065008" y="1389888"/>
            <a:ext cx="3575304" cy="3108960"/>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l">
              <a:defRPr sz="950" b="1">
                <a:solidFill>
                  <a:srgbClr val="176B87"/>
                </a:solidFill>
                <a:latin typeface="Helvetica"/>
              </a:defRPr>
            </a:pPr>
            <a:r>
              <a:t>🔵 FUTURE  •  Long-Term Vision</a:t>
            </a:r>
          </a:p>
          <a:p>
            <a:pPr algn="l">
              <a:spcBef>
                <a:spcPts val="250"/>
              </a:spcBef>
              <a:defRPr sz="780">
                <a:solidFill>
                  <a:srgbClr val="26332A"/>
                </a:solidFill>
                <a:latin typeface="Arial"/>
              </a:defRPr>
            </a:pPr>
            <a:r>
              <a:t>• Predictive ML irrigation demand models</a:t>
            </a:r>
          </a:p>
          <a:p>
            <a:pPr algn="l">
              <a:spcBef>
                <a:spcPts val="250"/>
              </a:spcBef>
              <a:defRPr sz="780">
                <a:solidFill>
                  <a:srgbClr val="26332A"/>
                </a:solidFill>
                <a:latin typeface="Arial"/>
              </a:defRPr>
            </a:pPr>
            <a:r>
              <a:t>• Dynamic aquifer drawdown modeling</a:t>
            </a:r>
          </a:p>
          <a:p>
            <a:pPr algn="l">
              <a:spcBef>
                <a:spcPts val="250"/>
              </a:spcBef>
              <a:defRPr sz="780">
                <a:solidFill>
                  <a:srgbClr val="26332A"/>
                </a:solidFill>
                <a:latin typeface="Arial"/>
              </a:defRPr>
            </a:pPr>
            <a:r>
              <a:t>• Water-energy mathematical co-optimization</a:t>
            </a:r>
          </a:p>
          <a:p>
            <a:pPr algn="l">
              <a:spcBef>
                <a:spcPts val="250"/>
              </a:spcBef>
              <a:defRPr sz="780">
                <a:solidFill>
                  <a:srgbClr val="26332A"/>
                </a:solidFill>
                <a:latin typeface="Arial"/>
              </a:defRPr>
            </a:pPr>
            <a:r>
              <a:t>• Automated pump relay with manual override</a:t>
            </a:r>
          </a:p>
          <a:p>
            <a:pPr algn="l">
              <a:spcBef>
                <a:spcPts val="250"/>
              </a:spcBef>
              <a:defRPr sz="780">
                <a:solidFill>
                  <a:srgbClr val="26332A"/>
                </a:solidFill>
                <a:latin typeface="Arial"/>
              </a:defRPr>
            </a:pPr>
            <a:r>
              <a:t>• Multi-farm FPO regional water management</a:t>
            </a:r>
          </a:p>
          <a:p>
            <a:pPr algn="l">
              <a:spcBef>
                <a:spcPts val="250"/>
              </a:spcBef>
              <a:defRPr sz="780">
                <a:solidFill>
                  <a:srgbClr val="26332A"/>
                </a:solidFill>
                <a:latin typeface="Arial"/>
              </a:defRPr>
            </a:pPr>
            <a:r>
              <a:t>• Satellite soil moisture verification</a:t>
            </a:r>
          </a:p>
          <a:p>
            <a:pPr algn="l">
              <a:spcBef>
                <a:spcPts val="250"/>
              </a:spcBef>
              <a:defRPr sz="780">
                <a:solidFill>
                  <a:srgbClr val="26332A"/>
                </a:solidFill>
                <a:latin typeface="Arial"/>
              </a:defRPr>
            </a:pPr>
            <a:r>
              <a:t>• Carbon credit &amp; energy offset tracking</a:t>
            </a:r>
          </a:p>
          <a:p>
            <a:pPr algn="l">
              <a:spcBef>
                <a:spcPts val="250"/>
              </a:spcBef>
              <a:defRPr sz="780">
                <a:solidFill>
                  <a:srgbClr val="26332A"/>
                </a:solidFill>
                <a:latin typeface="Arial"/>
              </a:defRPr>
            </a:pPr>
            <a:r>
              <a:t>• Aquifer depletion risk forecasting</a:t>
            </a:r>
          </a:p>
          <a:p>
            <a:pPr algn="l">
              <a:spcBef>
                <a:spcPts val="250"/>
              </a:spcBef>
              <a:defRPr sz="780">
                <a:solidFill>
                  <a:srgbClr val="26332A"/>
                </a:solidFill>
                <a:latin typeface="Arial"/>
              </a:defRPr>
            </a:pPr>
            <a:r>
              <a:t>• Autonomous schedule execution</a:t>
            </a:r>
          </a:p>
        </p:txBody>
      </p:sp>
      <p:sp>
        <p:nvSpPr>
          <p:cNvPr id="10" name="Rounded Rectangle 9"/>
          <p:cNvSpPr/>
          <p:nvPr/>
        </p:nvSpPr>
        <p:spPr>
          <a:xfrm>
            <a:off x="548640" y="4590288"/>
            <a:ext cx="11094415" cy="109728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l">
              <a:defRPr sz="850" b="1">
                <a:solidFill>
                  <a:srgbClr val="2F6B3B"/>
                </a:solidFill>
                <a:latin typeface="Helvetica"/>
              </a:defRPr>
            </a:pPr>
            <a:r>
              <a:t>REALISTIC SUSTAINABILITY &amp; OPERATIONAL IMPACT AREAS (DESIGN TARGETS — NO FABRICATED % STATS)</a:t>
            </a:r>
          </a:p>
          <a:p>
            <a:pPr algn="l">
              <a:spcBef>
                <a:spcPts val="150"/>
              </a:spcBef>
              <a:defRPr sz="800">
                <a:solidFill>
                  <a:srgbClr val="66736A"/>
                </a:solidFill>
                <a:latin typeface="Arial"/>
              </a:defRPr>
            </a:pPr>
            <a:r>
              <a:t>💧 Water: Designed to prevent unnecessary groundwater over-extraction.</a:t>
            </a:r>
          </a:p>
          <a:p>
            <a:pPr algn="l">
              <a:spcBef>
                <a:spcPts val="150"/>
              </a:spcBef>
              <a:defRPr sz="800">
                <a:solidFill>
                  <a:srgbClr val="66736A"/>
                </a:solidFill>
                <a:latin typeface="Arial"/>
              </a:defRPr>
            </a:pPr>
            <a:r>
              <a:t>⚡ Energy: Designed to maximize free daytime solar generation.</a:t>
            </a:r>
          </a:p>
          <a:p>
            <a:pPr algn="l">
              <a:spcBef>
                <a:spcPts val="150"/>
              </a:spcBef>
              <a:defRPr sz="800">
                <a:solidFill>
                  <a:srgbClr val="66736A"/>
                </a:solidFill>
                <a:latin typeface="Arial"/>
              </a:defRPr>
            </a:pPr>
            <a:r>
              <a:t>🌱 Crop: Supports hydration matched to crop growth requirements.</a:t>
            </a:r>
          </a:p>
          <a:p>
            <a:pPr algn="l">
              <a:spcBef>
                <a:spcPts val="150"/>
              </a:spcBef>
              <a:defRPr sz="800">
                <a:solidFill>
                  <a:srgbClr val="66736A"/>
                </a:solidFill>
                <a:latin typeface="Arial"/>
              </a:defRPr>
            </a:pPr>
            <a:r>
              <a:t>🕳️ Borewell: Enforces recovery-aware timing to prevent motor burnout.</a:t>
            </a:r>
          </a:p>
          <a:p>
            <a:pPr algn="l">
              <a:spcBef>
                <a:spcPts val="150"/>
              </a:spcBef>
              <a:defRPr sz="800">
                <a:solidFill>
                  <a:srgbClr val="66736A"/>
                </a:solidFill>
                <a:latin typeface="Arial"/>
              </a:defRPr>
            </a:pPr>
            <a:r>
              <a:t>👨‍🌾 Farmer: Eliminates complex guesswork with explainable directives.</a:t>
            </a:r>
          </a:p>
        </p:txBody>
      </p:sp>
      <p:sp>
        <p:nvSpPr>
          <p:cNvPr id="11" name="Rounded Rectangle 10"/>
          <p:cNvSpPr/>
          <p:nvPr/>
        </p:nvSpPr>
        <p:spPr>
          <a:xfrm>
            <a:off x="548640" y="5779008"/>
            <a:ext cx="11094415" cy="48463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lIns="274320" rIns="274320"/>
          <a:lstStyle/>
          <a:p>
            <a:pPr algn="ctr">
              <a:defRPr sz="850" b="1">
                <a:solidFill>
                  <a:srgbClr val="059669"/>
                </a:solidFill>
                <a:latin typeface="Arial"/>
              </a:defRPr>
            </a:pPr>
            <a:r>
              <a:t>DISCIPLINED PRODUCT PROGRESSION: MVP VALIDATED TODAY  ➔  CONNECTED TOMORROW  ➔  OPTIMIZED IN FUTURE</a:t>
            </a:r>
          </a:p>
        </p:txBody>
      </p:sp>
      <p:sp>
        <p:nvSpPr>
          <p:cNvPr id="12" name="TextBox 11"/>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F4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5669280" cy="1645920"/>
          </a:xfrm>
          <a:prstGeom prst="rect">
            <a:avLst/>
          </a:prstGeom>
          <a:noFill/>
        </p:spPr>
        <p:txBody>
          <a:bodyPr wrap="square" lIns="0" rIns="0" tIns="0" bIns="0">
            <a:spAutoFit/>
          </a:bodyPr>
          <a:lstStyle/>
          <a:p>
            <a:pPr algn="l">
              <a:defRPr sz="1300" i="1">
                <a:solidFill>
                  <a:srgbClr val="2F6B3B"/>
                </a:solidFill>
                <a:latin typeface="Arial"/>
              </a:defRPr>
            </a:pPr>
            <a:r>
              <a:t>From Farm Data to Smarter Decisions.</a:t>
            </a:r>
          </a:p>
          <a:p>
            <a:pPr algn="l">
              <a:spcBef>
                <a:spcPts val="200"/>
              </a:spcBef>
              <a:defRPr sz="3600" b="1">
                <a:solidFill>
                  <a:srgbClr val="26332A"/>
                </a:solidFill>
                <a:latin typeface="Helvetica"/>
              </a:defRPr>
            </a:pPr>
            <a:r>
              <a:t>AquaVolt AI</a:t>
            </a:r>
          </a:p>
          <a:p>
            <a:pPr algn="l">
              <a:spcBef>
                <a:spcPts val="200"/>
              </a:spcBef>
              <a:defRPr sz="1400" b="1">
                <a:solidFill>
                  <a:srgbClr val="176B87"/>
                </a:solidFill>
                <a:latin typeface="Helvetica"/>
              </a:defRPr>
            </a:pPr>
            <a:r>
              <a:t>Smart Water. Smart Energy. Sustainable Farming.</a:t>
            </a:r>
          </a:p>
        </p:txBody>
      </p:sp>
      <p:sp>
        <p:nvSpPr>
          <p:cNvPr id="5" name="Rounded Rectangle 4"/>
          <p:cNvSpPr/>
          <p:nvPr/>
        </p:nvSpPr>
        <p:spPr>
          <a:xfrm>
            <a:off x="731520" y="2331720"/>
            <a:ext cx="5303520" cy="5029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059669"/>
                </a:solidFill>
                <a:latin typeface="Arial"/>
              </a:defRPr>
            </a:pPr>
            <a:r>
              <a:t>FARM DATA  ➔  DECISION ENGINE  ➔  EXPLAINABLE ADVICE  ➔  TIMING</a:t>
            </a:r>
          </a:p>
        </p:txBody>
      </p:sp>
      <p:sp>
        <p:nvSpPr>
          <p:cNvPr id="6" name="Rounded Rectangle 5"/>
          <p:cNvSpPr/>
          <p:nvPr/>
        </p:nvSpPr>
        <p:spPr>
          <a:xfrm>
            <a:off x="731520" y="2971800"/>
            <a:ext cx="2596896" cy="91440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defRPr sz="950" b="1">
                <a:solidFill>
                  <a:srgbClr val="26332A"/>
                </a:solidFill>
                <a:latin typeface="Helvetica"/>
              </a:defRPr>
            </a:pPr>
            <a:r>
              <a:t>💧 Use Water Wisely</a:t>
            </a:r>
          </a:p>
          <a:p>
            <a:pPr algn="l">
              <a:spcBef>
                <a:spcPts val="200"/>
              </a:spcBef>
              <a:defRPr sz="800">
                <a:solidFill>
                  <a:srgbClr val="66736A"/>
                </a:solidFill>
                <a:latin typeface="Arial"/>
              </a:defRPr>
            </a:pPr>
            <a:r>
              <a:t>Avoid unnecessary extraction and respect aquifer health limits.</a:t>
            </a:r>
          </a:p>
        </p:txBody>
      </p:sp>
      <p:sp>
        <p:nvSpPr>
          <p:cNvPr id="7" name="Rounded Rectangle 6"/>
          <p:cNvSpPr/>
          <p:nvPr/>
        </p:nvSpPr>
        <p:spPr>
          <a:xfrm>
            <a:off x="3438144" y="2971800"/>
            <a:ext cx="2596896" cy="91440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defRPr sz="950" b="1">
                <a:solidFill>
                  <a:srgbClr val="26332A"/>
                </a:solidFill>
                <a:latin typeface="Helvetica"/>
              </a:defRPr>
            </a:pPr>
            <a:r>
              <a:t>☀️ Use Energy Intelligently</a:t>
            </a:r>
          </a:p>
          <a:p>
            <a:pPr algn="l">
              <a:spcBef>
                <a:spcPts val="200"/>
              </a:spcBef>
              <a:defRPr sz="800">
                <a:solidFill>
                  <a:srgbClr val="66736A"/>
                </a:solidFill>
                <a:latin typeface="Arial"/>
              </a:defRPr>
            </a:pPr>
            <a:r>
              <a:t>Harness free solar power during optimal daytime windows.</a:t>
            </a:r>
          </a:p>
        </p:txBody>
      </p:sp>
      <p:sp>
        <p:nvSpPr>
          <p:cNvPr id="8" name="Rounded Rectangle 7"/>
          <p:cNvSpPr/>
          <p:nvPr/>
        </p:nvSpPr>
        <p:spPr>
          <a:xfrm>
            <a:off x="731520" y="3977639"/>
            <a:ext cx="2596896" cy="91440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defRPr sz="950" b="1">
                <a:solidFill>
                  <a:srgbClr val="26332A"/>
                </a:solidFill>
                <a:latin typeface="Helvetica"/>
              </a:defRPr>
            </a:pPr>
            <a:r>
              <a:t>🕳️ Protect The Borewell</a:t>
            </a:r>
          </a:p>
          <a:p>
            <a:pPr algn="l">
              <a:spcBef>
                <a:spcPts val="200"/>
              </a:spcBef>
              <a:defRPr sz="800">
                <a:solidFill>
                  <a:srgbClr val="66736A"/>
                </a:solidFill>
                <a:latin typeface="Arial"/>
              </a:defRPr>
            </a:pPr>
            <a:r>
              <a:t>Eliminate dry-run risks through dynamic recovery-aware timing.</a:t>
            </a:r>
          </a:p>
        </p:txBody>
      </p:sp>
      <p:sp>
        <p:nvSpPr>
          <p:cNvPr id="9" name="Rounded Rectangle 8"/>
          <p:cNvSpPr/>
          <p:nvPr/>
        </p:nvSpPr>
        <p:spPr>
          <a:xfrm>
            <a:off x="3438144" y="3977639"/>
            <a:ext cx="2596896" cy="91440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defRPr sz="950" b="1">
                <a:solidFill>
                  <a:srgbClr val="26332A"/>
                </a:solidFill>
                <a:latin typeface="Helvetica"/>
              </a:defRPr>
            </a:pPr>
            <a:r>
              <a:t>👨‍🌾 Keep Farmer In Control</a:t>
            </a:r>
          </a:p>
          <a:p>
            <a:pPr algn="l">
              <a:spcBef>
                <a:spcPts val="200"/>
              </a:spcBef>
              <a:defRPr sz="800">
                <a:solidFill>
                  <a:srgbClr val="66736A"/>
                </a:solidFill>
                <a:latin typeface="Arial"/>
              </a:defRPr>
            </a:pPr>
            <a:r>
              <a:t>Transparent, explainable recommendations with human-in-the-loop.</a:t>
            </a:r>
          </a:p>
        </p:txBody>
      </p:sp>
      <p:sp>
        <p:nvSpPr>
          <p:cNvPr id="10" name="Rounded Rectangle 9"/>
          <p:cNvSpPr/>
          <p:nvPr/>
        </p:nvSpPr>
        <p:spPr>
          <a:xfrm>
            <a:off x="731520" y="5074920"/>
            <a:ext cx="5303520" cy="1097280"/>
          </a:xfrm>
          <a:prstGeom prst="roundRect">
            <a:avLst/>
          </a:prstGeom>
          <a:solidFill>
            <a:srgbClr val="EEF8FA"/>
          </a:solidFill>
          <a:ln w="12700">
            <a:solidFill>
              <a:srgbClr val="B6E0E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defRPr sz="800" b="1">
                <a:solidFill>
                  <a:srgbClr val="176B87"/>
                </a:solidFill>
                <a:latin typeface="Arial"/>
              </a:defRPr>
            </a:pPr>
            <a:r>
              <a:t>CORE MISSION &amp; PROMISE</a:t>
            </a:r>
          </a:p>
          <a:p>
            <a:pPr algn="l">
              <a:spcBef>
                <a:spcPts val="200"/>
              </a:spcBef>
              <a:defRPr sz="850" i="1">
                <a:solidFill>
                  <a:srgbClr val="26332A"/>
                </a:solidFill>
                <a:latin typeface="Arial"/>
              </a:defRPr>
            </a:pPr>
            <a:r>
              <a:t>“One recommendation. Multiple conditions. Farmer in control. AquaVolt delivers practical decision support that safeguards both water security and agricultural livelihoods.”</a:t>
            </a:r>
          </a:p>
        </p:txBody>
      </p:sp>
      <p:sp>
        <p:nvSpPr>
          <p:cNvPr id="11" name="Rounded Rectangle 10"/>
          <p:cNvSpPr/>
          <p:nvPr/>
        </p:nvSpPr>
        <p:spPr>
          <a:xfrm>
            <a:off x="6217920" y="548640"/>
            <a:ext cx="5212080" cy="310896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lide_12_img_8.jpg"/>
          <p:cNvPicPr>
            <a:picLocks noChangeAspect="1"/>
          </p:cNvPicPr>
          <p:nvPr/>
        </p:nvPicPr>
        <p:blipFill>
          <a:blip r:embed="rId2"/>
          <a:stretch>
            <a:fillRect/>
          </a:stretch>
        </p:blipFill>
        <p:spPr>
          <a:xfrm>
            <a:off x="6309360" y="640080"/>
            <a:ext cx="5029200" cy="2926080"/>
          </a:xfrm>
          <a:prstGeom prst="rect">
            <a:avLst/>
          </a:prstGeom>
        </p:spPr>
      </p:pic>
      <p:sp>
        <p:nvSpPr>
          <p:cNvPr id="13" name="Rounded Rectangle 12"/>
          <p:cNvSpPr/>
          <p:nvPr/>
        </p:nvSpPr>
        <p:spPr>
          <a:xfrm>
            <a:off x="6217920" y="3794760"/>
            <a:ext cx="5212080" cy="2377440"/>
          </a:xfrm>
          <a:prstGeom prst="roundRect">
            <a:avLst/>
          </a:prstGeom>
          <a:solidFill>
            <a:srgbClr val="FFFFFF"/>
          </a:solidFill>
          <a:ln w="12700">
            <a:solidFill>
              <a:srgbClr val="DFE5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defRPr sz="850" b="1">
                <a:solidFill>
                  <a:srgbClr val="2F6B3B"/>
                </a:solidFill>
                <a:latin typeface="Arial"/>
              </a:defRPr>
            </a:pPr>
            <a:r>
              <a:t>FINAL PROJECT POSITIONING</a:t>
            </a:r>
          </a:p>
          <a:p>
            <a:pPr algn="l">
              <a:spcBef>
                <a:spcPts val="600"/>
              </a:spcBef>
              <a:defRPr sz="1000" b="1">
                <a:solidFill>
                  <a:srgbClr val="26332A"/>
                </a:solidFill>
                <a:latin typeface="Arial"/>
              </a:defRPr>
            </a:pPr>
            <a:r>
              <a:t>“AquaVolt AI is an explainable water-energy decision-support system for agriculture that combines farm, soil, borewell, weather and solar conditions to recommend when irrigation should happen — while keeping the farmer in control.”</a:t>
            </a:r>
          </a:p>
          <a:p>
            <a:pPr algn="l">
              <a:spcBef>
                <a:spcPts val="800"/>
              </a:spcBef>
              <a:defRPr sz="850">
                <a:solidFill>
                  <a:srgbClr val="66736A"/>
                </a:solidFill>
                <a:latin typeface="Arial"/>
              </a:defRPr>
            </a:pPr>
            <a:r>
              <a:t>Next Planned Evolution: Live IoT telemetry, weather API sync, dynamic aquifer modeling, and predictive optimization.</a:t>
            </a:r>
          </a:p>
          <a:p>
            <a:pPr algn="l">
              <a:spcBef>
                <a:spcPts val="600"/>
              </a:spcBef>
              <a:defRPr sz="800" b="1">
                <a:solidFill>
                  <a:srgbClr val="059669"/>
                </a:solidFill>
                <a:latin typeface="Arial"/>
              </a:defRPr>
            </a:pPr>
            <a:r>
              <a:t>🟢 MVP COMPLETED &amp; SYSTEM TESTED  •  HACKATHON OCTOBER 2026</a:t>
            </a:r>
          </a:p>
        </p:txBody>
      </p:sp>
      <p:sp>
        <p:nvSpPr>
          <p:cNvPr id="14" name="TextBox 13"/>
          <p:cNvSpPr txBox="1"/>
          <p:nvPr/>
        </p:nvSpPr>
        <p:spPr>
          <a:xfrm>
            <a:off x="548640" y="6473952"/>
            <a:ext cx="11094415" cy="274320"/>
          </a:xfrm>
          <a:prstGeom prst="rect">
            <a:avLst/>
          </a:prstGeom>
          <a:noFill/>
        </p:spPr>
        <p:txBody>
          <a:bodyPr wrap="square" lIns="0" rIns="0" tIns="0" bIns="0">
            <a:spAutoFit/>
          </a:bodyPr>
          <a:lstStyle/>
          <a:p>
            <a:pPr>
              <a:defRPr sz="800">
                <a:solidFill>
                  <a:srgbClr val="8D9A91"/>
                </a:solidFill>
                <a:latin typeface="Arial"/>
              </a:defRPr>
            </a:pPr>
            <a:r>
              <a:t>AquaVolt AI  •  Smart Water. Smart Energy. Sustainable Farming.  •  Competition Pitch Deck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